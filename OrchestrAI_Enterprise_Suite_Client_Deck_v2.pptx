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EE0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0" y="0"/>
            <a:ext cx="54864" cy="68580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74320" y="201168"/>
            <a:ext cx="17373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886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CCCC"/>
                </a:solidFill>
                <a:latin typeface="Calibri"/>
              </a:rPr>
              <a:t>AI AGENTS WORKING IN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OrchestrAI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87168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Enterprise Suite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73552"/>
            <a:ext cx="4297680" cy="1905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3832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EEE"/>
                </a:solidFill>
                <a:latin typeface="Calibri"/>
              </a:rPr>
              <a:t>Govern AI with Confidence.
Build AI with Speed.
Deliver Value with Assurance.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Sithanandham Radhakrishnan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0974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CCC"/>
                </a:solidFill>
                <a:latin typeface="Calibri"/>
              </a:rPr>
              <a:t>Founder, OrchestrAI  |  Chief AI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06577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CCC"/>
                </a:solidFill>
                <a:latin typeface="Calibri"/>
              </a:rPr>
              <a:t>vThink Global Technologies Pvt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760720"/>
            <a:ext cx="4901184" cy="1097280"/>
          </a:xfrm>
          <a:prstGeom prst="rect">
            <a:avLst/>
          </a:prstGeom>
          <a:solidFill>
            <a:srgbClr val="CC0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264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"Human Orchestrates.  AI Builds.  Value Delivers."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9144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1F1F"/>
                </a:solidFill>
                <a:latin typeface="Calibri"/>
              </a:rPr>
              <a:t>The Complete AI-Native
Enterprise Operating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7627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Two Frameworks. One Continuous Cycle. Infinite Enterprise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743200"/>
            <a:ext cx="6812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2743200"/>
            <a:ext cx="63500" cy="84124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8163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334A"/>
                </a:solidFill>
                <a:latin typeface="Calibri"/>
              </a:rPr>
              <a:t>OMG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7889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OrchestrAI Model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1089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Govern AI. Control Risk. Ensure Compliance.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3730752"/>
            <a:ext cx="6812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3730752"/>
            <a:ext cx="63500" cy="84124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380390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0ED"/>
                </a:solidFill>
                <a:latin typeface="Calibri"/>
              </a:rPr>
              <a:t>ODF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7764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OrchestrAI Delivery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0965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Build Faster. Validate Continuously. Deliver Value.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4718304"/>
            <a:ext cx="6812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0640" y="4718304"/>
            <a:ext cx="63500" cy="84124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479145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AD48"/>
                </a:solidFill>
                <a:latin typeface="Calibri"/>
              </a:rPr>
              <a:t>OGE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7640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Quality &amp; Governance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08406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Observability. Guardrails. Evaluation.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5760720"/>
            <a:ext cx="681228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58704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334A"/>
                </a:solidFill>
                <a:latin typeface="Calibri"/>
              </a:rPr>
              <a:t>From Ideas to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2088" y="58704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A0ED"/>
                </a:solidFill>
                <a:latin typeface="Calibri"/>
              </a:rPr>
              <a:t>From Tools to Ownership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4936" y="58704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BAD48"/>
                </a:solidFill>
                <a:latin typeface="Calibri"/>
              </a:rPr>
              <a:t>From Months to 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THE ENTERPRISE AI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Every Enterprise Has AI Tools.  Almost None Have an AI Operating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The gap between AI investment and measurable delivery is the problem ODF solves.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65732"/>
            <a:ext cx="5440680" cy="455371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5440680" cy="455371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627632"/>
            <a:ext cx="63500" cy="455371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627632"/>
            <a:ext cx="5440680" cy="402336"/>
          </a:xfrm>
          <a:prstGeom prst="rect">
            <a:avLst/>
          </a:prstGeom>
          <a:solidFill>
            <a:srgbClr val="FFF0F2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68249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334A"/>
                </a:solidFill>
                <a:latin typeface="Calibri"/>
              </a:rPr>
              <a:t>Without ODF  —  The Status Quo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15798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  x   AI tools exist — delivery is still months-long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8346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  x   AI generates code — humans cannot govern or audit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351129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  x   No repeatable process — every project reinvented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41879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  x   Compliance &amp; risk exposure without human oversight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486460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  x   Billions invested. Limited measurable outcomes.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3872" y="2560320"/>
            <a:ext cx="502920" cy="16459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32461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4A4A"/>
                </a:solidFill>
                <a:latin typeface="Calibri"/>
              </a:rPr>
              <a:t>VS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2052" y="1665732"/>
            <a:ext cx="5458968" cy="455371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3952" y="1627632"/>
            <a:ext cx="5458968" cy="455371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3952" y="1627632"/>
            <a:ext cx="63500" cy="4553712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3952" y="1627632"/>
            <a:ext cx="5458968" cy="402336"/>
          </a:xfrm>
          <a:prstGeom prst="rect">
            <a:avLst/>
          </a:prstGeom>
          <a:solidFill>
            <a:srgbClr val="F0FBF2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168249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AD48"/>
                </a:solidFill>
                <a:latin typeface="Calibri"/>
              </a:rPr>
              <a:t>With OrchestrAI ODF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215798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  v   Complete AI-Native Enterprise Operating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28346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  v   Human Orchestrated. AI Powered. Value Focused.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351129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  v   Built-in governance, risk control &amp; quality from Day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41879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  v   Delivery in days — not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544" y="486460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  v   Every output owned, audited and approved by a human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6291072"/>
            <a:ext cx="11658600" cy="20116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318504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FFFFF"/>
                </a:solidFill>
                <a:latin typeface="Calibri"/>
              </a:rPr>
              <a:t>"OrchestrAI is not a tool. It is your new way of working."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THE ORCHESTRAI ENTERPRISE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The Complete AI-Native Enterprise Operating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Two Frameworks. One Continuous Cycle.  |  Governed. Built. Delivered.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10868"/>
            <a:ext cx="4160520" cy="4645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572768"/>
            <a:ext cx="4160520" cy="464515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572768"/>
            <a:ext cx="63500" cy="464515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572768"/>
            <a:ext cx="4160520" cy="4572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9105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OMG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51B5"/>
                </a:solidFill>
                <a:latin typeface="Calibri"/>
              </a:rPr>
              <a:t>OrchestrAI Model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Govern AI. Control Risk. Ensure Compliance.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34640"/>
            <a:ext cx="54864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AI Inventory &amp; Registry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18688"/>
            <a:ext cx="54864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004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Ownership &amp; RACI Roles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02736"/>
            <a:ext cx="54864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8444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Risk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86784"/>
            <a:ext cx="54864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684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Approval Workflow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70832"/>
            <a:ext cx="54864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3525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Human Override &amp; Kill Switch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54880"/>
            <a:ext cx="54864" cy="25603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7365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Audit &amp; Compliance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572768"/>
            <a:ext cx="2999232" cy="464515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572768"/>
            <a:ext cx="299923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17190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A4A4A"/>
                </a:solidFill>
                <a:latin typeface="Calibri"/>
              </a:rPr>
              <a:t>TWO FRAMEWORKS.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975104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A4A4A"/>
                </a:solidFill>
                <a:latin typeface="Calibri"/>
              </a:rPr>
              <a:t>ONE CONTINUOUS CYCLE.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2340864"/>
            <a:ext cx="1920240" cy="1920240"/>
          </a:xfrm>
          <a:prstGeom prst="rect">
            <a:avLst/>
          </a:prstGeom>
          <a:solidFill>
            <a:srgbClr val="FFF0F2"/>
          </a:solidFill>
          <a:ln w="2540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279806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1334A"/>
                </a:solidFill>
                <a:latin typeface="Calibri"/>
              </a:rPr>
              <a:t>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2552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1F1F"/>
                </a:solidFill>
                <a:latin typeface="Calibri"/>
              </a:rPr>
              <a:t>HARMONY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343400"/>
            <a:ext cx="2816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4A4A"/>
                </a:solidFill>
                <a:latin typeface="Calibri"/>
              </a:rPr>
              <a:t>Governed.
Built. Delivered.
Together.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64779" y="1610868"/>
            <a:ext cx="4206240" cy="4645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26679" y="1572768"/>
            <a:ext cx="4206240" cy="464515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26679" y="1572768"/>
            <a:ext cx="63500" cy="464515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26679" y="1572768"/>
            <a:ext cx="4206240" cy="4572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159105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210312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334A"/>
                </a:solidFill>
                <a:latin typeface="Calibri"/>
              </a:rPr>
              <a:t>OrchestrAI Delivery Framework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242316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Calibri"/>
              </a:rPr>
              <a:t>Build Faster. Validate Continuously. Deliver Value.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73568" y="2834640"/>
            <a:ext cx="54864" cy="25603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28163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Intent &amp; Outcome Definition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73568" y="3218688"/>
            <a:ext cx="54864" cy="256032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32004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Requirements &amp; Context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73568" y="3602736"/>
            <a:ext cx="54864" cy="256032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35844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AI-Assisted Design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73568" y="3986784"/>
            <a:ext cx="54864" cy="256032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39684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AI-Generated Development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73568" y="4370832"/>
            <a:ext cx="54864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43525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Testing &amp; Quality Assurance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4754880"/>
            <a:ext cx="54864" cy="25603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4736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Deployment &amp; Improvement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" y="6309360"/>
            <a:ext cx="2267712" cy="34747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6309360"/>
            <a:ext cx="2203704" cy="347472"/>
          </a:xfrm>
          <a:prstGeom prst="rect">
            <a:avLst/>
          </a:prstGeom>
          <a:solidFill>
            <a:srgbClr val="FFF0F2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33679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1334A"/>
                </a:solidFill>
                <a:latin typeface="Calibri"/>
              </a:rPr>
              <a:t>RBI-Aligned AI Governance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6309360"/>
            <a:ext cx="2267712" cy="347472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15768" y="6309360"/>
            <a:ext cx="2203704" cy="347472"/>
          </a:xfrm>
          <a:prstGeom prst="rect">
            <a:avLst/>
          </a:prstGeom>
          <a:solidFill>
            <a:srgbClr val="FFF0F2"/>
          </a:solidFill>
          <a:ln w="6350">
            <a:solidFill>
              <a:srgbClr val="00A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61488" y="633679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A0ED"/>
                </a:solidFill>
                <a:latin typeface="Calibri"/>
              </a:rPr>
              <a:t>AI-Powered Speed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47488" y="6309360"/>
            <a:ext cx="2267712" cy="347472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111496" y="6309360"/>
            <a:ext cx="2203704" cy="347472"/>
          </a:xfrm>
          <a:prstGeom prst="rect">
            <a:avLst/>
          </a:prstGeom>
          <a:solidFill>
            <a:srgbClr val="FFF0F2"/>
          </a:solidFill>
          <a:ln w="6350">
            <a:solidFill>
              <a:srgbClr val="5D0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57216" y="633679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D00ED"/>
                </a:solidFill>
                <a:latin typeface="Calibri"/>
              </a:rPr>
              <a:t>Risk Control &amp; Compliance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43216" y="6309360"/>
            <a:ext cx="2267712" cy="347472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07224" y="6309360"/>
            <a:ext cx="2203704" cy="347472"/>
          </a:xfrm>
          <a:prstGeom prst="rect">
            <a:avLst/>
          </a:prstGeom>
          <a:solidFill>
            <a:srgbClr val="FFF0F2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52944" y="633679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AD48"/>
                </a:solidFill>
                <a:latin typeface="Calibri"/>
              </a:rPr>
              <a:t>Human Oversight Always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38944" y="6309360"/>
            <a:ext cx="226771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902952" y="6309360"/>
            <a:ext cx="2203704" cy="347472"/>
          </a:xfrm>
          <a:prstGeom prst="rect">
            <a:avLst/>
          </a:prstGeom>
          <a:solidFill>
            <a:srgbClr val="FFF0F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48672" y="633679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Calibri"/>
              </a:rPr>
              <a:t>Measurable Business Outcomes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THE ORCHESTRAI NEXT-GEN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Balancing Human Wisdom with AI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The world's first AI-orchestrated delivery framework — purpose-built for the AI era.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10868"/>
            <a:ext cx="2743200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572768"/>
            <a:ext cx="274320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572768"/>
            <a:ext cx="63500" cy="466344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572768"/>
            <a:ext cx="2743200" cy="4572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" y="2148840"/>
            <a:ext cx="2414016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219456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0B0B0"/>
                </a:solidFill>
                <a:latin typeface="Calibri"/>
              </a:rPr>
              <a:t>HUMAN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45059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1F1F"/>
                </a:solidFill>
                <a:latin typeface="Calibri"/>
              </a:rPr>
              <a:t>Human
Wisdom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36393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1334A"/>
                </a:solidFill>
                <a:latin typeface="Calibri"/>
              </a:rPr>
              <a:t>&lt; - 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4069080"/>
            <a:ext cx="2414016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411480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0B0B0"/>
                </a:solidFill>
                <a:latin typeface="Calibri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437083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1334A"/>
                </a:solidFill>
                <a:latin typeface="Calibri"/>
              </a:rPr>
              <a:t>AI
Intelligence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8500" y="1610868"/>
            <a:ext cx="2743200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572768"/>
            <a:ext cx="274320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1572768"/>
            <a:ext cx="63500" cy="466344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1572768"/>
            <a:ext cx="2743200" cy="4572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64992" y="2148840"/>
            <a:ext cx="2414016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219456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0B0B0"/>
                </a:solidFill>
                <a:latin typeface="Calibri"/>
              </a:rPr>
              <a:t>HUMAN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245059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1F1F"/>
                </a:solidFill>
                <a:latin typeface="Calibri"/>
              </a:rPr>
              <a:t>Human
Judgement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6393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D00ED"/>
                </a:solidFill>
                <a:latin typeface="Calibri"/>
              </a:rPr>
              <a:t>&lt; - 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64992" y="4069080"/>
            <a:ext cx="2414016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64992" y="411480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0B0B0"/>
                </a:solidFill>
                <a:latin typeface="Calibri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437083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D00ED"/>
                </a:solidFill>
                <a:latin typeface="Calibri"/>
              </a:rPr>
              <a:t>AI Speed &amp;
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2868" y="1610868"/>
            <a:ext cx="2743200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1572768"/>
            <a:ext cx="274320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1572768"/>
            <a:ext cx="63500" cy="4663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44768" y="1572768"/>
            <a:ext cx="2743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2148840"/>
            <a:ext cx="2414016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19456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0B0B0"/>
                </a:solidFill>
                <a:latin typeface="Calibri"/>
              </a:rPr>
              <a:t>HUMAN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45059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1F1F"/>
                </a:solidFill>
                <a:latin typeface="Calibri"/>
              </a:rPr>
              <a:t>Human
Creativity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36393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&lt; - 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069080"/>
            <a:ext cx="2414016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11480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0B0B0"/>
                </a:solidFill>
                <a:latin typeface="Calibri"/>
              </a:rPr>
              <a:t>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37083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AI
Generation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27236" y="1610868"/>
            <a:ext cx="2743200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89136" y="1572768"/>
            <a:ext cx="274320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89136" y="1572768"/>
            <a:ext cx="63500" cy="466344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89136" y="1572768"/>
            <a:ext cx="2743200" cy="4572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53728" y="2148840"/>
            <a:ext cx="2414016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53728" y="219456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0B0B0"/>
                </a:solidFill>
                <a:latin typeface="Calibri"/>
              </a:rPr>
              <a:t>HUMAN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3728" y="245059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1F1F"/>
                </a:solidFill>
                <a:latin typeface="Calibri"/>
              </a:rPr>
              <a:t>Human
Accountability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89136" y="36393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AD48"/>
                </a:solidFill>
                <a:latin typeface="Calibri"/>
              </a:rPr>
              <a:t>&lt; - &gt;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53728" y="4069080"/>
            <a:ext cx="2414016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3728" y="411480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0B0B0"/>
                </a:solidFill>
                <a:latin typeface="Calibri"/>
              </a:rPr>
              <a:t>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53728" y="437083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BAD48"/>
                </a:solidFill>
                <a:latin typeface="Calibri"/>
              </a:rPr>
              <a:t>AI
Automation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" y="6309360"/>
            <a:ext cx="1165860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327648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A4A4A"/>
                </a:solidFill>
                <a:latin typeface="Calibri"/>
              </a:rPr>
              <a:t>OrchestrAI elevates the human to their highest value: decisions, judgement and accountability — while AI executes at machine speed.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334A"/>
                </a:solidFill>
                <a:latin typeface="Calibri"/>
              </a:rPr>
              <a:t>Human Orchestrates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0ED"/>
                </a:solidFill>
                <a:latin typeface="Calibri"/>
              </a:rPr>
              <a:t>AI Builds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BAD48"/>
                </a:solidFill>
                <a:latin typeface="Calibri"/>
              </a:rPr>
              <a:t>Value Delivers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ODF — ORCHESTRAI DELIVERY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The 6-Stage AI-Orchestrated Delivery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 continuous operating rhythm — from business intent to production, and back again. Stage 06 feeds back into Stage 01.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268" y="1610868"/>
            <a:ext cx="1920240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572768"/>
            <a:ext cx="192024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1572768"/>
            <a:ext cx="63500" cy="466344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1572768"/>
            <a:ext cx="1920240" cy="4572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6093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2084831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2112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1334A"/>
                </a:solidFill>
                <a:latin typeface="Calibri"/>
              </a:rPr>
              <a:t>Human
Orchestrated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56032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"/>
              </a:rPr>
              <a:t>Intent &amp;
Outcome
Definition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401568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Define goals, success metrics,
stakeholders &amp; guardrails
before any AI is prompted.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29260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0B0"/>
                </a:solidFill>
                <a:latin typeface="Calibri"/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32660" y="1610868"/>
            <a:ext cx="1920240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1572768"/>
            <a:ext cx="192024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94560" y="1572768"/>
            <a:ext cx="63500" cy="466344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0" y="1572768"/>
            <a:ext cx="1920240" cy="4572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16093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2084831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A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2112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A0ED"/>
                </a:solidFill>
                <a:latin typeface="Calibri"/>
              </a:rPr>
              <a:t>Human + AI
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56032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"/>
              </a:rPr>
              <a:t>Requirements
&amp;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401568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Capture functional, non-functional
needs, actors, rules &amp;
edge cases in plain English.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9260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0B0"/>
                </a:solidFill>
                <a:latin typeface="Calibri"/>
              </a:rPr>
              <a:t>-&gt;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26052" y="1610868"/>
            <a:ext cx="1920240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87952" y="1572768"/>
            <a:ext cx="192024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87952" y="1572768"/>
            <a:ext cx="63500" cy="466344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87952" y="1572768"/>
            <a:ext cx="1920240" cy="4572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87952" y="16093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5112" y="2084831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5D0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9392" y="2112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D00ED"/>
                </a:solidFill>
                <a:latin typeface="Calibri"/>
              </a:rPr>
              <a:t>AI Design
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7952" y="256032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"/>
              </a:rPr>
              <a:t>AI-Assisted
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9392" y="3401568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AI generates architecture &amp;
solution design. Human
reviews, selects &amp; locks.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2472" y="29260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0B0"/>
                </a:solidFill>
                <a:latin typeface="Calibri"/>
              </a:rPr>
              <a:t>-&gt;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9444" y="1610868"/>
            <a:ext cx="1920240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1344" y="1572768"/>
            <a:ext cx="192024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81344" y="1572768"/>
            <a:ext cx="63500" cy="466344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81344" y="1572768"/>
            <a:ext cx="1920240" cy="4572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1344" y="16093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18504" y="2084831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2784" y="2112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AD48"/>
                </a:solidFill>
                <a:latin typeface="Calibri"/>
              </a:rPr>
              <a:t>AI Code
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1344" y="256032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"/>
              </a:rPr>
              <a:t>AI-Generated
Development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3401568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AI accelerates coding, APIs,
schemas &amp; integrations.
Human validates each component.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55864" y="29260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0B0"/>
                </a:solidFill>
                <a:latin typeface="Calibri"/>
              </a:rPr>
              <a:t>-&gt;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2836" y="1610868"/>
            <a:ext cx="1920240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74736" y="1572768"/>
            <a:ext cx="192024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74736" y="1572768"/>
            <a:ext cx="63500" cy="4663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74736" y="1572768"/>
            <a:ext cx="19202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74736" y="16093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11896" y="2084831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66176" y="2112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Calibri"/>
              </a:rPr>
              <a:t>AI + Human
QA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74736" y="256032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"/>
              </a:rPr>
              <a:t>Testing &amp;
Quality
Assurance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66176" y="3401568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AI + Human testing for
quality, security &amp; compliance.
No component ships unvalidated.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9256" y="29260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0B0"/>
                </a:solidFill>
                <a:latin typeface="Calibri"/>
              </a:rPr>
              <a:t>-&gt;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06228" y="1610868"/>
            <a:ext cx="1920240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168128" y="1572768"/>
            <a:ext cx="192024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168128" y="1572768"/>
            <a:ext cx="63500" cy="466344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168128" y="1572768"/>
            <a:ext cx="1920240" cy="4572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68128" y="16093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05288" y="2084831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59568" y="2112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7A59"/>
                </a:solidFill>
                <a:latin typeface="Calibri"/>
              </a:rPr>
              <a:t>Continuous
Evolution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68128" y="256032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Calibri"/>
              </a:rPr>
              <a:t>Deployment
&amp; Improvement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59568" y="3401568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Rapid delivery, business feedback
&amp; continuous iteration.
Loops back into Stage 01.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168" y="6309360"/>
            <a:ext cx="11777472" cy="20116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3276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BUILD FAST  .  DELIVER SMART  .  IMPROVE CONTINUOUSLY  .  LOOP BACK TO INTENT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ODF CEREMONIES — YOUR NEW ENTERPRISE DELIVERY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The 5 OrchestrAI Ceremonies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OrchestrAI replaces Scrum ceremonies with AI-native equivalents that deliver in days, not weeks.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268" y="1610868"/>
            <a:ext cx="2231136" cy="4645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572768"/>
            <a:ext cx="2231136" cy="464515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1572768"/>
            <a:ext cx="63500" cy="464515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1572768"/>
            <a:ext cx="2231136" cy="4572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609344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INTENT
WORKSHOP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2084831"/>
            <a:ext cx="1975104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210312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1334A"/>
                </a:solidFill>
                <a:latin typeface="Calibri"/>
              </a:rPr>
              <a:t>Replaces:
Sprint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2578608"/>
            <a:ext cx="201168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Define outcome, workflows,
actors, rules &amp; guardrails
in plain English.
AI builds the delivery plan.
Duration: 1-2 hours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4996" y="1610868"/>
            <a:ext cx="2231136" cy="4645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6896" y="1572768"/>
            <a:ext cx="2231136" cy="464515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6896" y="1572768"/>
            <a:ext cx="63500" cy="464515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6896" y="1572768"/>
            <a:ext cx="2231136" cy="4572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609344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MICRO
SPRINT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4912" y="2084831"/>
            <a:ext cx="1975104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88336" y="210312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F51B5"/>
                </a:solidFill>
                <a:latin typeface="Calibri"/>
              </a:rPr>
              <a:t>Replaces:
2-4 Week Sprint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2578608"/>
            <a:ext cx="201168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AI builds a focused component
in 1-2 days. Each sprint delivers
something demonstrable
&amp; testable by the business.
Duration: 1-2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0724" y="1610868"/>
            <a:ext cx="2231136" cy="4645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92624" y="1572768"/>
            <a:ext cx="2231136" cy="464515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92624" y="1572768"/>
            <a:ext cx="63500" cy="4645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92624" y="1572768"/>
            <a:ext cx="2231136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92624" y="1609344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DAILY
AI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2084831"/>
            <a:ext cx="1975104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84064" y="210312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855F7"/>
                </a:solidFill>
                <a:latin typeface="Calibri"/>
              </a:rPr>
              <a:t>Replaces:
Daily Standup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2578608"/>
            <a:ext cx="201168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What did AI generate?
What was validated?
What is next?
Blockers are re-prompted,
not escalated. 15-30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6452" y="1610868"/>
            <a:ext cx="2231136" cy="4645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88352" y="1572768"/>
            <a:ext cx="2231136" cy="464515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88352" y="1572768"/>
            <a:ext cx="63500" cy="4645152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1572768"/>
            <a:ext cx="2231136" cy="4572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88352" y="1609344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DAILY DEMO
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16368" y="2084831"/>
            <a:ext cx="1975104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A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9792" y="210312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A0ED"/>
                </a:solidFill>
                <a:latin typeface="Calibri"/>
              </a:rPr>
              <a:t>Replaces:
Sprint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2578608"/>
            <a:ext cx="201168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Continuous demos,
immediate stakeholder feedback
&amp; iteration. No waiting for
end-of-sprint.
Duration: 30-60 min daily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2180" y="1610868"/>
            <a:ext cx="2231136" cy="4645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84080" y="1572768"/>
            <a:ext cx="2231136" cy="4645152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84080" y="1572768"/>
            <a:ext cx="63500" cy="4645152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84080" y="1572768"/>
            <a:ext cx="2231136" cy="4572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1609344"/>
            <a:ext cx="22311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CONTINUOUS
EVOLUTION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12096" y="2084831"/>
            <a:ext cx="1975104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210312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AD48"/>
                </a:solidFill>
                <a:latin typeface="Calibri"/>
              </a:rPr>
              <a:t>Replaces:
Retrospective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3808" y="2578608"/>
            <a:ext cx="201168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Daily: improve process
&amp; adapt in real time.
Every cycle makes the
next delivery faster
&amp; smarter. 30 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6309360"/>
            <a:ext cx="11777472" cy="20116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3276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INTENT  -&gt;  BUILD  -&gt;  REVIEW  -&gt;  DEMO  -&gt;  EVOLVE  -&gt;  LOOP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SCRUM vs ORCHESTRAI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07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Which Development Model Delivers Enterprise Applications Faster?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234440"/>
            <a:ext cx="19202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8016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0B0"/>
                </a:solidFill>
                <a:latin typeface="Calibri"/>
              </a:rPr>
              <a:t>DIMENSION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234440"/>
            <a:ext cx="3703320" cy="384048"/>
          </a:xfrm>
          <a:prstGeom prst="rect">
            <a:avLst/>
          </a:prstGeom>
          <a:solidFill>
            <a:srgbClr val="FFF0F2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2801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334A"/>
                </a:solidFill>
                <a:latin typeface="Calibri"/>
              </a:rPr>
              <a:t>TRADITIONAL SCRUM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234440"/>
            <a:ext cx="3931920" cy="384048"/>
          </a:xfrm>
          <a:prstGeom prst="rect">
            <a:avLst/>
          </a:prstGeom>
          <a:solidFill>
            <a:srgbClr val="F0FBF2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280160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BAD48"/>
                </a:solidFill>
                <a:latin typeface="Calibri"/>
              </a:rPr>
              <a:t>ORCHESTRAI ODF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691640"/>
            <a:ext cx="19202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178308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4A4A"/>
                </a:solidFill>
                <a:latin typeface="Calibri"/>
              </a:rPr>
              <a:t>Sprint Duration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1691640"/>
            <a:ext cx="3703320" cy="594360"/>
          </a:xfrm>
          <a:prstGeom prst="rect">
            <a:avLst/>
          </a:prstGeom>
          <a:solidFill>
            <a:srgbClr val="FFFAFA"/>
          </a:solidFill>
          <a:ln w="5080">
            <a:solidFill>
              <a:srgbClr val="F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0864" y="176479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1-2 Week Sprint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288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334A"/>
                </a:solidFill>
                <a:latin typeface="Calibri"/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91640"/>
            <a:ext cx="3931920" cy="594360"/>
          </a:xfrm>
          <a:prstGeom prst="rect">
            <a:avLst/>
          </a:prstGeom>
          <a:solidFill>
            <a:srgbClr val="F5FFF7"/>
          </a:solidFill>
          <a:ln w="5080">
            <a:solidFill>
              <a:srgbClr val="C0E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176479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1F1F"/>
                </a:solidFill>
                <a:latin typeface="Calibri"/>
              </a:rPr>
              <a:t>1-2 Day Micro Sprint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2350008"/>
            <a:ext cx="192024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2441448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4A4A"/>
                </a:solidFill>
                <a:latin typeface="Calibri"/>
              </a:rPr>
              <a:t>Sprint Planning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2350008"/>
            <a:ext cx="3703320" cy="594360"/>
          </a:xfrm>
          <a:prstGeom prst="rect">
            <a:avLst/>
          </a:prstGeom>
          <a:solidFill>
            <a:srgbClr val="FFFAFA"/>
          </a:solidFill>
          <a:ln w="5080">
            <a:solidFill>
              <a:srgbClr val="F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864" y="2423160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Estimate, prioritise,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487168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334A"/>
                </a:solidFill>
                <a:latin typeface="Calibri"/>
              </a:rPr>
              <a:t>-&gt;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350008"/>
            <a:ext cx="3931920" cy="594360"/>
          </a:xfrm>
          <a:prstGeom prst="rect">
            <a:avLst/>
          </a:prstGeom>
          <a:solidFill>
            <a:srgbClr val="F5FFF7"/>
          </a:solidFill>
          <a:ln w="5080">
            <a:solidFill>
              <a:srgbClr val="C0E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2423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1F1F"/>
                </a:solidFill>
                <a:latin typeface="Calibri"/>
              </a:rPr>
              <a:t>Intent Workshop — AI builds the delivery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3008376"/>
            <a:ext cx="19202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3099816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4A4A"/>
                </a:solidFill>
                <a:latin typeface="Calibri"/>
              </a:rPr>
              <a:t>Daily Standup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3008376"/>
            <a:ext cx="3703320" cy="594360"/>
          </a:xfrm>
          <a:prstGeom prst="rect">
            <a:avLst/>
          </a:prstGeom>
          <a:solidFill>
            <a:srgbClr val="FFFAFA"/>
          </a:solidFill>
          <a:ln w="5080">
            <a:solidFill>
              <a:srgbClr val="F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40864" y="3081528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Team sync on tasks &amp; blockers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14553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334A"/>
                </a:solidFill>
                <a:latin typeface="Calibri"/>
              </a:rPr>
              <a:t>-&gt;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3008376"/>
            <a:ext cx="3931920" cy="594360"/>
          </a:xfrm>
          <a:prstGeom prst="rect">
            <a:avLst/>
          </a:prstGeom>
          <a:solidFill>
            <a:srgbClr val="F5FFF7"/>
          </a:solidFill>
          <a:ln w="5080">
            <a:solidFill>
              <a:srgbClr val="C0E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1344" y="308152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1F1F"/>
                </a:solidFill>
                <a:latin typeface="Calibri"/>
              </a:rPr>
              <a:t>Daily AI Review — What generated? What's next?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3666744"/>
            <a:ext cx="192024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3758184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4A4A"/>
                </a:solidFill>
                <a:latin typeface="Calibri"/>
              </a:rPr>
              <a:t>Sprint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3666744"/>
            <a:ext cx="3703320" cy="594360"/>
          </a:xfrm>
          <a:prstGeom prst="rect">
            <a:avLst/>
          </a:prstGeom>
          <a:solidFill>
            <a:srgbClr val="FFFAFA"/>
          </a:solidFill>
          <a:ln w="5080">
            <a:solidFill>
              <a:srgbClr val="F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40864" y="3739896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Demo at end of sprint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803904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334A"/>
                </a:solidFill>
                <a:latin typeface="Calibri"/>
              </a:rPr>
              <a:t>-&gt;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3666744"/>
            <a:ext cx="3931920" cy="594360"/>
          </a:xfrm>
          <a:prstGeom prst="rect">
            <a:avLst/>
          </a:prstGeom>
          <a:solidFill>
            <a:srgbClr val="F5FFF7"/>
          </a:solidFill>
          <a:ln w="5080">
            <a:solidFill>
              <a:srgbClr val="C0E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3739896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1F1F"/>
                </a:solidFill>
                <a:latin typeface="Calibri"/>
              </a:rPr>
              <a:t>Daily Demo Review — Continuous, immediate feedback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325112"/>
            <a:ext cx="19202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4416552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4A4A"/>
                </a:solidFill>
                <a:latin typeface="Calibri"/>
              </a:rPr>
              <a:t>Retrospective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40280" y="4325112"/>
            <a:ext cx="3703320" cy="594360"/>
          </a:xfrm>
          <a:prstGeom prst="rect">
            <a:avLst/>
          </a:prstGeom>
          <a:solidFill>
            <a:srgbClr val="FFFAFA"/>
          </a:solidFill>
          <a:ln w="5080">
            <a:solidFill>
              <a:srgbClr val="F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40864" y="4398264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Improve in next sprint (weeks)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4622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334A"/>
                </a:solidFill>
                <a:latin typeface="Calibri"/>
              </a:rPr>
              <a:t>-&gt;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4325112"/>
            <a:ext cx="3931920" cy="594360"/>
          </a:xfrm>
          <a:prstGeom prst="rect">
            <a:avLst/>
          </a:prstGeom>
          <a:solidFill>
            <a:srgbClr val="F5FFF7"/>
          </a:solidFill>
          <a:ln w="5080">
            <a:solidFill>
              <a:srgbClr val="C0E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81344" y="43982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1F1F"/>
                </a:solidFill>
                <a:latin typeface="Calibri"/>
              </a:rPr>
              <a:t>Continuous Evolution — Daily, real-time improvement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" y="4983479"/>
            <a:ext cx="192024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" y="5074919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4A4A"/>
                </a:solidFill>
                <a:latin typeface="Calibri"/>
              </a:rPr>
              <a:t>Who Builds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40280" y="4983479"/>
            <a:ext cx="3703320" cy="594360"/>
          </a:xfrm>
          <a:prstGeom prst="rect">
            <a:avLst/>
          </a:prstGeom>
          <a:solidFill>
            <a:srgbClr val="FFFAFA"/>
          </a:solidFill>
          <a:ln w="5080">
            <a:solidFill>
              <a:srgbClr val="F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40864" y="5056631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Human develops &amp; tests manually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120639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334A"/>
                </a:solidFill>
                <a:latin typeface="Calibri"/>
              </a:rPr>
              <a:t>-&gt;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4983479"/>
            <a:ext cx="3931920" cy="594360"/>
          </a:xfrm>
          <a:prstGeom prst="rect">
            <a:avLst/>
          </a:prstGeom>
          <a:solidFill>
            <a:srgbClr val="F5FFF7"/>
          </a:solidFill>
          <a:ln w="5080">
            <a:solidFill>
              <a:srgbClr val="C0E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81344" y="5056631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1F1F"/>
                </a:solidFill>
                <a:latin typeface="Calibri"/>
              </a:rPr>
              <a:t>AI Generates, Humans Validate &amp; Own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49840" y="1234440"/>
            <a:ext cx="1828800" cy="477316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149840" y="1234440"/>
            <a:ext cx="63500" cy="477316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49840" y="1234440"/>
            <a:ext cx="1828800" cy="38404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86416" y="1261872"/>
            <a:ext cx="1755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
ADVANTAGE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22992" y="1700784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1F1F"/>
                </a:solidFill>
                <a:latin typeface="Calibri"/>
              </a:rPr>
              <a:t>v  Days Not Months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22992" y="212140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1F1F"/>
                </a:solidFill>
                <a:latin typeface="Calibri"/>
              </a:rPr>
              <a:t>v  Daily Progress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22992" y="254203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1F1F"/>
                </a:solidFill>
                <a:latin typeface="Calibri"/>
              </a:rPr>
              <a:t>v  AI Code &amp; Tests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22992" y="2962656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1F1F"/>
                </a:solidFill>
                <a:latin typeface="Calibri"/>
              </a:rPr>
              <a:t>v  Continuous UAT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22992" y="338328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1F1F"/>
                </a:solidFill>
                <a:latin typeface="Calibri"/>
              </a:rPr>
              <a:t>v  Faster Adaptation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22992" y="3803904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1F1F"/>
                </a:solidFill>
                <a:latin typeface="Calibri"/>
              </a:rPr>
              <a:t>v  Human Oversight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22992" y="422452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1F1F"/>
                </a:solidFill>
                <a:latin typeface="Calibri"/>
              </a:rPr>
              <a:t>v  Proved In Practice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" y="6236208"/>
            <a:ext cx="2304288" cy="47548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" y="62636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10X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71600" y="6327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Faster Delivery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6236208"/>
            <a:ext cx="2304288" cy="47548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34640" y="62636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1-2 DAY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58768" y="6327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Micro Sprints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30368" y="6236208"/>
            <a:ext cx="2304288" cy="47548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21808" y="62636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DAILY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45936" y="6327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Business Feedback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17536" y="6236208"/>
            <a:ext cx="230428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08976" y="62636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70-80%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33104" y="6327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MVP Rapidly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ODF — THE 6 CORE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08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Not Optional. Not Situational. Always.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Every OrchestrAI ODF delivery — regardless of domain, complexity or team size — runs on these 6 principles.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10868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572768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572768"/>
            <a:ext cx="63500" cy="20574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572768"/>
            <a:ext cx="3749039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682496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01  AI as Primary 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139696"/>
            <a:ext cx="3493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The AI engine writes all code, schemas &amp; tests.
The Lead orchestrates — never codes manually.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0916" y="1610868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1572768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2816" y="1572768"/>
            <a:ext cx="63500" cy="20574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2816" y="1572768"/>
            <a:ext cx="3749039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682496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02  Human as 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139696"/>
            <a:ext cx="3493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Humans make all decisions, set all constraints
&amp; own all approvals. AI never decides alone.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7700" y="1610868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572768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572768"/>
            <a:ext cx="63500" cy="20574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572768"/>
            <a:ext cx="3749039" cy="54864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682496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03  Plain-English Driven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39696"/>
            <a:ext cx="3493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Conversational, precise specifications —
not dry architecture docs or user stories.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132" y="3915156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3877056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3877056"/>
            <a:ext cx="63500" cy="20574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3877056"/>
            <a:ext cx="3749039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986784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04  Continuous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4443984"/>
            <a:ext cx="3493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Sprints replaced by constant feature deployments.
Every day produces something demonstrable.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80916" y="3915156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42816" y="3877056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42816" y="3877056"/>
            <a:ext cx="63500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42816" y="3877056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25696" y="3986784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05  Instant Iteration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5696" y="4443984"/>
            <a:ext cx="3493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Gaps identified are re-prompted &amp; resolved
in hours — not scheduled into next sprint.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67700" y="3915156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877056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3877056"/>
            <a:ext cx="63500" cy="20574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3877056"/>
            <a:ext cx="3749039" cy="5486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3986784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06  Quality by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443984"/>
            <a:ext cx="3493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Security, logging &amp; governance are Day 1
constraints — never retrofitted afterward.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OGE — THE ORCHESTRAI QUALITY &amp; GOVERNANCE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09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Built Into Every Stage of ODF. Not an Add-On. A Mandate.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Quality . Governance . Security . Privacy . Data Protection — Not a Feature. A Mandate in OrchestrAI.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10868"/>
            <a:ext cx="3749039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572768"/>
            <a:ext cx="3749039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572768"/>
            <a:ext cx="63500" cy="46634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572768"/>
            <a:ext cx="3749039" cy="5486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" y="1719072"/>
            <a:ext cx="347472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F51B5"/>
                </a:solidFill>
                <a:latin typeface="Calibri"/>
              </a:rPr>
              <a:t>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514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1F1F1F"/>
                </a:solidFill>
                <a:latin typeface="Calibri"/>
              </a:rPr>
              <a:t>See. Understand. 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2880360"/>
            <a:ext cx="3474720" cy="1905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999232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  <a:latin typeface="Calibri"/>
              </a:rPr>
              <a:t>Continuous monitoring of AI-generated outputs,
drift detection, alerts &amp; anomaly reporting.
Human always knows exactly what AI is
doing and can intervene at any 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0916" y="1610868"/>
            <a:ext cx="3749039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2816" y="1572768"/>
            <a:ext cx="3749039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42816" y="1572768"/>
            <a:ext cx="63500" cy="466344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42816" y="1572768"/>
            <a:ext cx="3749039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9976" y="1719072"/>
            <a:ext cx="347472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9976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1334A"/>
                </a:solidFill>
                <a:latin typeface="Calibri"/>
              </a:rPr>
              <a:t>GUARDRAILS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2514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1F1F1F"/>
                </a:solidFill>
                <a:latin typeface="Calibri"/>
              </a:rPr>
              <a:t>Safe. Aligned. Controlled.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9976" y="2880360"/>
            <a:ext cx="3474720" cy="1905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2999232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  <a:latin typeface="Calibri"/>
              </a:rPr>
              <a:t>Constraints, boundaries &amp; controls baked into
every AI prompt and every delivery stage.
AI cannot operate outside of defined
guardrails — ever.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7700" y="1610868"/>
            <a:ext cx="3749039" cy="4663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572768"/>
            <a:ext cx="3749039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572768"/>
            <a:ext cx="63500" cy="466344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572768"/>
            <a:ext cx="3749039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1719072"/>
            <a:ext cx="347472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BAD48"/>
                </a:solidFill>
                <a:latin typeface="Calibri"/>
              </a:rP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514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1F1F1F"/>
                </a:solidFill>
                <a:latin typeface="Calibri"/>
              </a:rPr>
              <a:t>Measure. Validate. Improve.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60" y="2880360"/>
            <a:ext cx="3474720" cy="1905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2999232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  <a:latin typeface="Calibri"/>
              </a:rPr>
              <a:t>Outcome scoring, quality benchmarks &amp;
continuous improvement signals.
Every cycle measured against
the original business intent.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6309360"/>
            <a:ext cx="1165860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33679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A4A4A"/>
                </a:solidFill>
                <a:latin typeface="Calibri"/>
              </a:rPr>
              <a:t>OGE governs every stage of the ODF loop — ensuring AI delivery is trustworthy, auditable, and enterprise-grade.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OMG — ORCHESTRAI MODEL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10 Pillars of Enterprise AI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Trusted. Transparent. Governed.  |  RBI-Aligned  |  Risk-First. Human-Led. Enterprise-Ready.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572768"/>
            <a:ext cx="56692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572768"/>
            <a:ext cx="63500" cy="74980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276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334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6276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AI Inventory &amp;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751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Define and register all AI assets enterprise-wide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72768"/>
            <a:ext cx="56692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72768"/>
            <a:ext cx="63500" cy="74980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276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0ED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16276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Ownership &amp;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19751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RACI-based accountability — every AI has a human 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2441448"/>
            <a:ext cx="56692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2441448"/>
            <a:ext cx="63500" cy="74980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963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00ED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4963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Risk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2843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Classify by business impact and RBI risk tiers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441448"/>
            <a:ext cx="56692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441448"/>
            <a:ext cx="63500" cy="74980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24963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AD48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4963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Approval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843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Structured approvals before any AI model is deployed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3310128"/>
            <a:ext cx="56692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3310128"/>
            <a:ext cx="6350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3649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33649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Validation &amp;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3712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Independent validation with documented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310128"/>
            <a:ext cx="56692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310128"/>
            <a:ext cx="63500" cy="74980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3649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A59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33649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Human Override &amp; Kill Switch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712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Control, pause or stop any AI — at any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4178807"/>
            <a:ext cx="56692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6032" y="4178807"/>
            <a:ext cx="63500" cy="7498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23367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" y="423367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Monitoring &amp; Observability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458114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Continuous monitoring, alerts and drift detection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178807"/>
            <a:ext cx="56692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4178807"/>
            <a:ext cx="63500" cy="74980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423367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51B5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423367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Audit &amp; Reporting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458114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End-to-end regulatory audit trails and RBI-ready exports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" y="5047488"/>
            <a:ext cx="56692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5047488"/>
            <a:ext cx="63500" cy="749808"/>
          </a:xfrm>
          <a:prstGeom prst="rect">
            <a:avLst/>
          </a:prstGeom>
          <a:solidFill>
            <a:srgbClr val="339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102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9849"/>
                </a:solidFill>
                <a:latin typeface="Calibri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" y="5102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Lifecycle Management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" y="54498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Manage AI from creation through retirement and archive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047488"/>
            <a:ext cx="56692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5047488"/>
            <a:ext cx="63500" cy="749808"/>
          </a:xfrm>
          <a:prstGeom prst="rect">
            <a:avLst/>
          </a:prstGeom>
          <a:solidFill>
            <a:srgbClr val="37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9088" y="5102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5C6E"/>
                </a:solidFill>
                <a:latin typeface="Calibr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39712" y="5102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Ethics &amp; Responsibility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9712" y="54498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Fairness, transparency and responsible AI at every level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6309360"/>
            <a:ext cx="11658600" cy="20116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327648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RBI-Aligned AI Governance  |  Risk-First  |  Human-Led  |  Enterprise-Ready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ODF BUSINESS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11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What Enterprises Actually 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Not slideware. Measurable delivery outcomes — governed end to 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32" y="1610868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572768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572768"/>
            <a:ext cx="63500" cy="20574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572768"/>
            <a:ext cx="3749039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682496"/>
            <a:ext cx="349300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334A"/>
                </a:solidFill>
                <a:latin typeface="Calibri"/>
              </a:rPr>
              <a:t>10X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231136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Faster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578608"/>
            <a:ext cx="349300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Outcomes shipped in a fraction of traditional cycle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0916" y="1610868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2816" y="1572768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2816" y="1572768"/>
            <a:ext cx="63500" cy="20574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2816" y="1572768"/>
            <a:ext cx="3749039" cy="54864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1682496"/>
            <a:ext cx="349300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0ED"/>
                </a:solidFill>
                <a:latin typeface="Calibri"/>
              </a:rPr>
              <a:t>1-2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231136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Micro Sprints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2578608"/>
            <a:ext cx="349300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Short, focused delivery cycles instead of multi-week sprints.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7700" y="1610868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572768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572768"/>
            <a:ext cx="63500" cy="20574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572768"/>
            <a:ext cx="3749039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682496"/>
            <a:ext cx="349300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D00ED"/>
                </a:solidFill>
                <a:latin typeface="Calibri"/>
              </a:rPr>
              <a:t>Same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231136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Faster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78608"/>
            <a:ext cx="349300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Feedback re-enters delivery immediately, not next iteration.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4132" y="3915156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3877056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3877056"/>
            <a:ext cx="63500" cy="20574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3877056"/>
            <a:ext cx="3749039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3986784"/>
            <a:ext cx="349300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AD48"/>
                </a:solidFill>
                <a:latin typeface="Calibri"/>
              </a:rPr>
              <a:t>Built 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535424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Enterprise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882896"/>
            <a:ext cx="349300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Controlled, auditable &amp; measurable delivery at every stage.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0916" y="3915156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42816" y="3877056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2816" y="3877056"/>
            <a:ext cx="63500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42816" y="3877056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3986784"/>
            <a:ext cx="349300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Always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5696" y="4535424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Human Ownership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4882896"/>
            <a:ext cx="349300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People stay accountable for decisions, quality &amp; outcomes.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67700" y="3915156"/>
            <a:ext cx="3749039" cy="2057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3877056"/>
            <a:ext cx="3749039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3877056"/>
            <a:ext cx="63500" cy="20574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3877056"/>
            <a:ext cx="3749039" cy="5486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3986784"/>
            <a:ext cx="349300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7A59"/>
                </a:solidFill>
                <a:latin typeface="Calibri"/>
              </a:rPr>
              <a:t>Every Cycle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535424"/>
            <a:ext cx="3493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Continuous Improvement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882896"/>
            <a:ext cx="3493007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Every cycle makes the next delivery measurably better.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PROVED IN PRACTICE (PIP) — REAL APPS. REAL SPEED. REAL ODF.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Not Just AI. Your Competitive Advantage.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Production-ready enterprise systems built entirely through ODF — live and explorable right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268" y="1610868"/>
            <a:ext cx="2816352" cy="46817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572768"/>
            <a:ext cx="2816352" cy="468172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1572768"/>
            <a:ext cx="63500" cy="468172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1572768"/>
            <a:ext cx="2816352" cy="4572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1609344"/>
            <a:ext cx="2587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OrchestrAI Lead
Certification &amp; Career Portal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2084831"/>
            <a:ext cx="2542032" cy="274320"/>
          </a:xfrm>
          <a:prstGeom prst="rect">
            <a:avLst/>
          </a:prstGeom>
          <a:solidFill>
            <a:srgbClr val="F0FFF2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03120"/>
            <a:ext cx="2450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BAD48"/>
                </a:solidFill>
                <a:latin typeface="Calibri"/>
              </a:rPr>
              <a:t>Built in  10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423160"/>
            <a:ext cx="25420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Full learning management platform
7 training modules . Quiz engine
Capstone submission &amp; AI review
Certification generation
Firebase backend . Gamification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4407408"/>
            <a:ext cx="2633472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43984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334A"/>
                </a:solidFill>
                <a:latin typeface="Calibri"/>
              </a:rPr>
              <a:t>vthinkorchestrai-academy.web.app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36592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Calibri"/>
              </a:rPr>
              <a:t>Login: Free access — no login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8500" y="1610868"/>
            <a:ext cx="2816352" cy="46817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572768"/>
            <a:ext cx="2816352" cy="468172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1572768"/>
            <a:ext cx="63500" cy="468172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1572768"/>
            <a:ext cx="2816352" cy="4572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1609344"/>
            <a:ext cx="2587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Timesheet
Management Portal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2084831"/>
            <a:ext cx="2542032" cy="274320"/>
          </a:xfrm>
          <a:prstGeom prst="rect">
            <a:avLst/>
          </a:prstGeom>
          <a:solidFill>
            <a:srgbClr val="F0FFF2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103120"/>
            <a:ext cx="2450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BAD48"/>
                </a:solidFill>
                <a:latin typeface="Calibri"/>
              </a:rPr>
              <a:t>Built in  7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2423160"/>
            <a:ext cx="25420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27 APIs . Multi-role RBAC
Timesheet validation grids
Multi-project tracking
Approval workflows
Fully operational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4407408"/>
            <a:ext cx="2633472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00A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64992" y="4443984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0ED"/>
                </a:solidFill>
                <a:latin typeface="Calibri"/>
              </a:rPr>
              <a:t>timesheet.vthinkdeveloper.com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4736592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Calibri"/>
              </a:rPr>
              <a:t>Login: Guest01  /  Guest@123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7731" y="1610868"/>
            <a:ext cx="2816352" cy="46817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1" y="1572768"/>
            <a:ext cx="2816352" cy="468172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1" y="1572768"/>
            <a:ext cx="63500" cy="468172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1" y="1572768"/>
            <a:ext cx="2816352" cy="457200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1" y="1609344"/>
            <a:ext cx="2587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Project
Issue Tracker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6791" y="2084831"/>
            <a:ext cx="2542032" cy="274320"/>
          </a:xfrm>
          <a:prstGeom prst="rect">
            <a:avLst/>
          </a:prstGeom>
          <a:solidFill>
            <a:srgbClr val="F0FFF2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1" y="2103120"/>
            <a:ext cx="2450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BAD48"/>
                </a:solidFill>
                <a:latin typeface="Calibri"/>
              </a:rPr>
              <a:t>Built in  5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1" y="2423160"/>
            <a:ext cx="25420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Multi-tenant sprint tracking
Sub-items &amp; custom categories
Prompt audit history
Full workflow state engine
16-transition status matrix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1" y="4407408"/>
            <a:ext cx="2633472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5D0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4223" y="4443984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D00ED"/>
                </a:solidFill>
                <a:latin typeface="Calibri"/>
              </a:rPr>
              <a:t>projectissuetracker.vthinkdeveloper.com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3" y="4736592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Calibri"/>
              </a:rPr>
              <a:t>Login: Guest01  /  Guest@123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6964" y="1610868"/>
            <a:ext cx="2816352" cy="46817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98864" y="1572768"/>
            <a:ext cx="2816352" cy="468172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98864" y="1572768"/>
            <a:ext cx="63500" cy="468172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98864" y="1572768"/>
            <a:ext cx="2816352" cy="4572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36024" y="1609344"/>
            <a:ext cx="2587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HRIMS . HR Resource Planner
Finance Resource Planner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36024" y="2084831"/>
            <a:ext cx="2542032" cy="274320"/>
          </a:xfrm>
          <a:prstGeom prst="rect">
            <a:avLst/>
          </a:prstGeom>
          <a:solidFill>
            <a:srgbClr val="F0FFF2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81744" y="2103120"/>
            <a:ext cx="2450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BAD48"/>
                </a:solidFill>
                <a:latin typeface="Calibri"/>
              </a:rPr>
              <a:t>Built in  20 Days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36024" y="2423160"/>
            <a:ext cx="25420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18 of 24 complex modules built
Leave &amp; expense management
Payroll integration
HR &amp; Finance resource planning
UAT-ready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90304" y="4407408"/>
            <a:ext cx="2633472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2B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63456" y="4443984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AD48"/>
                </a:solidFill>
                <a:latin typeface="Calibri"/>
              </a:rPr>
              <a:t>Demo available on request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63456" y="4736592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Calibri"/>
              </a:rPr>
              <a:t>Login: Contact us to schedule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1168" y="6309360"/>
            <a:ext cx="11777472" cy="20116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327648"/>
            <a:ext cx="113202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This OrchestrAI Academy portal — a complex multi-role enterprise LMS — was built in 10 days using ODF. Everything you see IS ODF output.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ORCHESTRAI IS FOR EVERY DELIVERY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Not a Developer-Only Method. Every Role Has a Seat.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34440"/>
            <a:ext cx="1165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Every person in an enterprise delivery team has a clear job to do inside the OrchestrAI operating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572768"/>
            <a:ext cx="3749039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572768"/>
            <a:ext cx="63500" cy="129844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572768"/>
            <a:ext cx="3749039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Developers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103120"/>
            <a:ext cx="34930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Build enterprise software faster using AI-assisted 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572768"/>
            <a:ext cx="3749039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572768"/>
            <a:ext cx="63500" cy="129844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1572768"/>
            <a:ext cx="3749039" cy="54864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1682496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Architects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103120"/>
            <a:ext cx="34930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Define architecture, standards, governance &amp; guardrails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572768"/>
            <a:ext cx="3749039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572768"/>
            <a:ext cx="63500" cy="129844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72768"/>
            <a:ext cx="3749039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82496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Subject Matter Experts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103120"/>
            <a:ext cx="34930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Convert deep business knowledge into enterprise solutions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3054096"/>
            <a:ext cx="3749039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3054096"/>
            <a:ext cx="63500" cy="1298448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3054096"/>
            <a:ext cx="3749039" cy="54864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163824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QA Engineers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3584448"/>
            <a:ext cx="34930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Validate AI-generated applications &amp; outcomes with evidence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2816" y="3054096"/>
            <a:ext cx="3749039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42816" y="3054096"/>
            <a:ext cx="63500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42816" y="3054096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3163824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Testers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5696" y="3584448"/>
            <a:ext cx="34930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Prove quality against real business intent, not just tickets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054096"/>
            <a:ext cx="3749039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3054096"/>
            <a:ext cx="63500" cy="129844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054096"/>
            <a:ext cx="3749039" cy="5486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163824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IT Engineers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584448"/>
            <a:ext cx="34930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Accelerate deployment, automation &amp; operational readiness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4535424"/>
            <a:ext cx="3749039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6032" y="4535424"/>
            <a:ext cx="63500" cy="129844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4535424"/>
            <a:ext cx="3749039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4645152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Product Owners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5065776"/>
            <a:ext cx="34930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Focus on business outcomes &amp; delivery priorities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42816" y="4535424"/>
            <a:ext cx="3749039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42816" y="4535424"/>
            <a:ext cx="63500" cy="1298448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42816" y="4535424"/>
            <a:ext cx="3749039" cy="54864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5696" y="4645152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Engineering Managers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5696" y="5065776"/>
            <a:ext cx="34930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Improve speed, predictability &amp; delivery governance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535424"/>
            <a:ext cx="3749039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4535424"/>
            <a:ext cx="63500" cy="1298448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0" y="4535424"/>
            <a:ext cx="3749039" cy="54864"/>
          </a:xfrm>
          <a:prstGeom prst="rect">
            <a:avLst/>
          </a:prstGeom>
          <a:solidFill>
            <a:srgbClr val="5D0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4645152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CTOs / CIOs / Tech Leaders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065776"/>
            <a:ext cx="34930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Drive ODF adoption safely, strategically &amp; at scale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45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1334A"/>
                </a:solidFill>
                <a:latin typeface="Calibri"/>
              </a:rPr>
              <a:t>ABOUT THE 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66928"/>
            <a:ext cx="11658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libri"/>
              </a:rPr>
              <a:t>Built by a Practitioner. Proved in Production.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4132" y="1610868"/>
            <a:ext cx="3108960" cy="46817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572768"/>
            <a:ext cx="3108960" cy="468172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572768"/>
            <a:ext cx="63500" cy="4681728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572768"/>
            <a:ext cx="3108960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810512"/>
            <a:ext cx="2194560" cy="1828800"/>
          </a:xfrm>
          <a:prstGeom prst="rect">
            <a:avLst/>
          </a:prstGeom>
          <a:solidFill>
            <a:srgbClr val="FFF0F2"/>
          </a:solidFill>
          <a:ln w="190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12848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1334A"/>
                </a:solidFill>
                <a:latin typeface="Calibri"/>
              </a:rPr>
              <a:t>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822191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1F1F"/>
                </a:solidFill>
                <a:latin typeface="Calibri"/>
              </a:rPr>
              <a:t>Sithanandham
Radhakrishnan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462272"/>
            <a:ext cx="2944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334A"/>
                </a:solidFill>
                <a:latin typeface="Calibri"/>
              </a:rPr>
              <a:t>Founder, OrchestrAI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4754880"/>
            <a:ext cx="2944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4A"/>
                </a:solidFill>
                <a:latin typeface="Calibri"/>
              </a:rPr>
              <a:t>Chief AI Architect
vThink Global Technologies Pvt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5321808"/>
            <a:ext cx="2944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1334A"/>
                </a:solidFill>
                <a:latin typeface="Calibri"/>
              </a:rPr>
              <a:t>"Human Orchestrates. AI Builds. Value Delivers."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5972" y="1610868"/>
            <a:ext cx="8366760" cy="46817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47872" y="1572768"/>
            <a:ext cx="8366760" cy="468172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03320" y="1737360"/>
            <a:ext cx="50800" cy="71323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5072" y="1773936"/>
            <a:ext cx="7726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24+ Years of Industry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2121408"/>
            <a:ext cx="77266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Banking . Insurance . Telecom . Capital Markets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2606039"/>
            <a:ext cx="50800" cy="71323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2642615"/>
            <a:ext cx="7726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Elite Client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2990087"/>
            <a:ext cx="77266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Barclays  .  Verizon  .  ING Group  .  Merrill Lynch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3474720"/>
            <a:ext cx="50800" cy="71323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5072" y="3511296"/>
            <a:ext cx="7726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OrchestrAI Framework Creator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3858768"/>
            <a:ext cx="77266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Conceived, designed &amp; built ODF from the ground 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4343400"/>
            <a:ext cx="50800" cy="71323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5072" y="4379976"/>
            <a:ext cx="7726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ODF in Action — Proved in Practice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5072" y="4727448"/>
            <a:ext cx="77266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Built the OrchestrAI Academy LMS in 10 days using ODF.
The platform you are seeing IS the proof of the method.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5212079"/>
            <a:ext cx="50800" cy="71323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5248655"/>
            <a:ext cx="7726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IP Ownership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5072" y="5596127"/>
            <a:ext cx="77266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All OrchestrAI methodology &amp; products are proprietary IP
of vThink Global Technologies Pvt Ltd.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47872" y="6327648"/>
            <a:ext cx="1965960" cy="256032"/>
          </a:xfrm>
          <a:prstGeom prst="rect">
            <a:avLst/>
          </a:prstGeom>
          <a:solidFill>
            <a:srgbClr val="FFF0F2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6336792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1334A"/>
                </a:solidFill>
                <a:latin typeface="Calibri"/>
              </a:rPr>
              <a:t>Strategic Advisor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50992" y="6327648"/>
            <a:ext cx="1965960" cy="256032"/>
          </a:xfrm>
          <a:prstGeom prst="rect">
            <a:avLst/>
          </a:prstGeom>
          <a:solidFill>
            <a:srgbClr val="FFF0F2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6336792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1334A"/>
                </a:solidFill>
                <a:latin typeface="Calibri"/>
              </a:rPr>
              <a:t>OrchestrAI Architect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54112" y="6327648"/>
            <a:ext cx="1965960" cy="256032"/>
          </a:xfrm>
          <a:prstGeom prst="rect">
            <a:avLst/>
          </a:prstGeom>
          <a:solidFill>
            <a:srgbClr val="FFF0F2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54112" y="6336792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1334A"/>
                </a:solidFill>
                <a:latin typeface="Calibri"/>
              </a:rPr>
              <a:t>AI Delivery Pioneer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57232" y="6327648"/>
            <a:ext cx="1965960" cy="256032"/>
          </a:xfrm>
          <a:prstGeom prst="rect">
            <a:avLst/>
          </a:prstGeom>
          <a:solidFill>
            <a:srgbClr val="FFF0F2"/>
          </a:solidFill>
          <a:ln w="6350">
            <a:solidFill>
              <a:srgbClr val="F1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57232" y="6336792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1334A"/>
                </a:solidFill>
                <a:latin typeface="Calibri"/>
              </a:rPr>
              <a:t>Enterprise Practitioner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6111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6611112"/>
            <a:ext cx="6035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OrchestrAI Enterprise Suite  -  vThink Global Technologies Pvt Ltd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87327977594.png"/>
          <p:cNvPicPr>
            <a:picLocks noChangeAspect="1"/>
          </p:cNvPicPr>
          <p:nvPr/>
        </p:nvPicPr>
        <p:blipFill>
          <a:blip r:embed="rId2"/>
          <a:srcRect l="800" t="800" r="75200" b="75200"/>
          <a:stretch>
            <a:fillRect/>
          </a:stretch>
        </p:blipFill>
        <p:spPr>
          <a:xfrm>
            <a:off x="256032" y="91440"/>
            <a:ext cx="1463040" cy="585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1645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822960"/>
            <a:ext cx="11658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F1F1F"/>
                </a:solidFill>
                <a:latin typeface="Calibri"/>
              </a:rPr>
              <a:t>Experience ODF.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463040"/>
            <a:ext cx="1165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  <a:latin typeface="Calibri"/>
              </a:rPr>
              <a:t>The Future of AI-Governed Enterprise Delivery — Available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901952"/>
            <a:ext cx="116586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4132" y="2095500"/>
            <a:ext cx="3730752" cy="41605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2057400"/>
            <a:ext cx="3730752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057400"/>
            <a:ext cx="63500" cy="416052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2057400"/>
            <a:ext cx="3730752" cy="438912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2084831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EXPLORE LIVE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542032"/>
            <a:ext cx="3364992" cy="12700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633472"/>
            <a:ext cx="336499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OrchestrAI Lead Certification &amp; Career Portal
vthinkorchestrai-academy.web.app
Free access — no login required
Timesheet Management Portal
timesheet.vthinkdeveloper.com
Login: Guest01 / Guest@123
Project Issue Tracker
projectissuetracker.vthinkdeveloper.com
Login: Guest01 / Guest@123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0916" y="2095500"/>
            <a:ext cx="3730752" cy="41605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2057400"/>
            <a:ext cx="3730752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2816" y="2057400"/>
            <a:ext cx="63500" cy="416052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2816" y="2057400"/>
            <a:ext cx="3730752" cy="438912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2084831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REQUEST A LIVE DEMO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6" y="2542032"/>
            <a:ext cx="3364992" cy="12700"/>
          </a:xfrm>
          <a:prstGeom prst="rect">
            <a:avLst/>
          </a:prstGeom>
          <a:solidFill>
            <a:srgbClr val="00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633472"/>
            <a:ext cx="336499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Bring your use case.
We build a working ODF prototype
in 7 days — you experience
the framework firsthand.
HRIMS . HR Resource Planner
Finance Resource Planner
Available on request.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7700" y="2095500"/>
            <a:ext cx="3730752" cy="41605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057400"/>
            <a:ext cx="3730752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057400"/>
            <a:ext cx="63500" cy="416052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057400"/>
            <a:ext cx="3730752" cy="438912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084831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SCHEDULE A STRATEGY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542032"/>
            <a:ext cx="3364992" cy="12700"/>
          </a:xfrm>
          <a:prstGeom prst="rect">
            <a:avLst/>
          </a:prstGeom>
          <a:solidFill>
            <a:srgbClr val="2B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633472"/>
            <a:ext cx="336499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60-minute ODF Adoption
Strategy Session — tailored
to your organisation's
AI readiness level.
CTO / CIO / Technology Leader
alignment session included.
Contact: vthinkorchestrai@gmail.com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6291072"/>
            <a:ext cx="11658600" cy="402336"/>
          </a:xfrm>
          <a:prstGeom prst="rect">
            <a:avLst/>
          </a:prstGeom>
          <a:solidFill>
            <a:srgbClr val="F1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4593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Email: vthinkorchestrai@gmail.com   |   Web: vthinkorchestrai-academy.web.app   |   vThink Global Technologies Pvt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6720840"/>
            <a:ext cx="11658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B0B0"/>
                </a:solidFill>
                <a:latin typeface="Calibri"/>
              </a:rPr>
              <a:t>"Human Orchestrates. AI Builds. Value Delivers." - Sithanandham Radhakrishnan, Founder OrchestrAI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