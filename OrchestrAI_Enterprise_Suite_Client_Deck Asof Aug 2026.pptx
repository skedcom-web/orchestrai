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645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C1B1B"/>
                </a:solidFill>
                <a:latin typeface="Calibri"/>
              </a:rPr>
              <a:t>A★  OrchestrAI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5303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AABB"/>
                </a:solidFill>
                <a:latin typeface="Calibri"/>
              </a:rPr>
              <a:t>AI-ORCHESTRATED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8288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ABB"/>
                </a:solidFill>
                <a:latin typeface="Calibri"/>
              </a:rPr>
              <a:t>From Ideas to Impact.  From Tools to Ownership.  From Months to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FFFFFF"/>
                </a:solidFill>
                <a:latin typeface="Calibri"/>
              </a:rPr>
              <a:t>OrchestrAI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CC1B1B"/>
                </a:solidFill>
                <a:latin typeface="Calibri"/>
              </a:rPr>
              <a:t>Enterprise Suite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AABB"/>
                </a:solidFill>
                <a:latin typeface="Calibri"/>
              </a:rPr>
              <a:t>Govern AI with Confidence.  Build AI with Speed.  Deliver Value with Assurance.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03320"/>
            <a:ext cx="11247120" cy="731520"/>
          </a:xfrm>
          <a:prstGeom prst="rect">
            <a:avLst/>
          </a:prstGeom>
          <a:solidFill>
            <a:srgbClr val="140404"/>
          </a:solidFill>
          <a:ln w="9525">
            <a:solidFill>
              <a:srgbClr val="CC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4903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1">
                <a:solidFill>
                  <a:srgbClr val="CC1B1B"/>
                </a:solidFill>
                <a:latin typeface="Calibri"/>
              </a:rPr>
              <a:t>"Human Orchestrates.  AI Builds.  Value Delivers."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572000"/>
            <a:ext cx="3749039" cy="777240"/>
          </a:xfrm>
          <a:prstGeom prst="rect">
            <a:avLst/>
          </a:prstGeom>
          <a:solidFill>
            <a:srgbClr val="0D1426"/>
          </a:solidFill>
          <a:ln w="6350">
            <a:solidFill>
              <a:srgbClr val="1E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6177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C1B1B"/>
                </a:solidFill>
                <a:latin typeface="Calibri"/>
              </a:rPr>
              <a:t>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846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ODF · OMG · OGE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1688" y="4572000"/>
            <a:ext cx="3749039" cy="777240"/>
          </a:xfrm>
          <a:prstGeom prst="rect">
            <a:avLst/>
          </a:prstGeom>
          <a:solidFill>
            <a:srgbClr val="0D1426"/>
          </a:solidFill>
          <a:ln w="6350">
            <a:solidFill>
              <a:srgbClr val="1E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46177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C1B1B"/>
                </a:solidFill>
                <a:latin typeface="Calibri"/>
              </a:rPr>
              <a:t>PHILOSOPHY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4846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Human Wisdom × AI Intelligence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66175" y="4572000"/>
            <a:ext cx="3749039" cy="777240"/>
          </a:xfrm>
          <a:prstGeom prst="rect">
            <a:avLst/>
          </a:prstGeom>
          <a:solidFill>
            <a:srgbClr val="0D1426"/>
          </a:solidFill>
          <a:ln w="6350">
            <a:solidFill>
              <a:srgbClr val="1E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3335" y="46177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C1B1B"/>
                </a:solidFill>
                <a:latin typeface="Calibri"/>
              </a:rPr>
              <a:t>PROVEN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3335" y="4846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Real Apps. Real Speed. Real Results.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532120"/>
            <a:ext cx="11247120" cy="868680"/>
          </a:xfrm>
          <a:prstGeom prst="rect">
            <a:avLst/>
          </a:prstGeom>
          <a:solidFill>
            <a:srgbClr val="0A0F20"/>
          </a:solidFill>
          <a:ln w="6350">
            <a:solidFill>
              <a:srgbClr val="1E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577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Sithanandham Radhakrishnan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2531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Founder, OrchestrAI  |  Chief AI Architect  |  vThink Global Technologies Pvt Ltd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1B1B"/>
                </a:solidFill>
                <a:latin typeface="Calibri"/>
              </a:rPr>
              <a:t>THE ENTERPRISE AI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29768"/>
            <a:ext cx="731520" cy="38100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Every Enterprise Has AI Tools.
Almost None Have an AI Operating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94960" cy="411480"/>
          </a:xfrm>
          <a:prstGeom prst="rect">
            <a:avLst/>
          </a:prstGeom>
          <a:solidFill>
            <a:srgbClr val="2A0808"/>
          </a:solidFill>
          <a:ln w="6350">
            <a:solidFill>
              <a:srgbClr val="8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070"/>
                </a:solidFill>
                <a:latin typeface="Calibri"/>
              </a:rPr>
              <a:t>❌  THE STATUS QUO (Without ODF)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ABB"/>
                </a:solidFill>
                <a:latin typeface="Calibri"/>
              </a:rPr>
              <a:t>⚠  AI tools exist — delivery is still months-long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2432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ABB"/>
                </a:solidFill>
                <a:latin typeface="Calibri"/>
              </a:rPr>
              <a:t>⚠  AI generates code — humans can't govern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82696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ABB"/>
                </a:solidFill>
                <a:latin typeface="Calibri"/>
              </a:rPr>
              <a:t>⚠  No audit trail, no accountability, no repeatability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4106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ABB"/>
                </a:solidFill>
                <a:latin typeface="Calibri"/>
              </a:rPr>
              <a:t>⚠  Compliance &amp; risk disaster without human oversight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99431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ABB"/>
                </a:solidFill>
                <a:latin typeface="Calibri"/>
              </a:rPr>
              <a:t>⚠  Billions invested. Limited measurable outcomes.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577840" cy="411480"/>
          </a:xfrm>
          <a:prstGeom prst="rect">
            <a:avLst/>
          </a:prstGeom>
          <a:solidFill>
            <a:srgbClr val="041A10"/>
          </a:solidFill>
          <a:ln w="6350">
            <a:solidFill>
              <a:srgbClr val="106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087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✔  WITH ORCHESTRAI ODF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659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ABB"/>
                </a:solidFill>
                <a:latin typeface="Calibri"/>
              </a:rPr>
              <a:t>✔  Complete AI-Native Enterprise Operating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2432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ABB"/>
                </a:solidFill>
                <a:latin typeface="Calibri"/>
              </a:rPr>
              <a:t>✔  Human Orchestrated. AI Powered. Value Focused.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82696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ABB"/>
                </a:solidFill>
                <a:latin typeface="Calibri"/>
              </a:rPr>
              <a:t>✔  Built-in governance, risk control &amp; quality from Day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41064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ABB"/>
                </a:solidFill>
                <a:latin typeface="Calibri"/>
              </a:rPr>
              <a:t>✔  Delivery in days — not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599431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ABB"/>
                </a:solidFill>
                <a:latin typeface="Calibri"/>
              </a:rPr>
              <a:t>✔  Every output owned, audited &amp; approved by a human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97880" y="1371600"/>
            <a:ext cx="457200" cy="3931920"/>
          </a:xfrm>
          <a:prstGeom prst="rect">
            <a:avLst/>
          </a:prstGeom>
          <a:solidFill>
            <a:srgbClr val="12182A"/>
          </a:solidFill>
          <a:ln w="6350">
            <a:solidFill>
              <a:srgbClr val="1E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16168" y="3108960"/>
            <a:ext cx="420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06A80"/>
                </a:solidFill>
                <a:latin typeface="Calibri"/>
              </a:rPr>
              <a:t>VS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080760"/>
            <a:ext cx="11430000" cy="548640"/>
          </a:xfrm>
          <a:prstGeom prst="rect">
            <a:avLst/>
          </a:prstGeom>
          <a:solidFill>
            <a:srgbClr val="140404"/>
          </a:solidFill>
          <a:ln w="9525">
            <a:solidFill>
              <a:srgbClr val="CC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144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CC1B1B"/>
                </a:solidFill>
                <a:latin typeface="Calibri"/>
              </a:rPr>
              <a:t>"OrchestrAI is not a tool. It is your new way of working."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4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A80"/>
                </a:solidFill>
                <a:latin typeface="Calibri"/>
              </a:rPr>
              <a:t>Human Orchestrates  |  AI Builds  |  Value Delivers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CC1B1B"/>
                </a:solidFill>
                <a:latin typeface="Calibri"/>
              </a:rPr>
              <a:t>OrchestrAI  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6A80"/>
                </a:solidFill>
                <a:latin typeface="Calibri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1B1B"/>
                </a:solidFill>
                <a:latin typeface="Calibri"/>
              </a:rPr>
              <a:t>THE ORCHESTRAI ENTERPRISE SUITE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02336"/>
            <a:ext cx="731520" cy="38100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Complete AI-Native Enterprise Operating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698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ABB"/>
                </a:solidFill>
                <a:latin typeface="Calibri"/>
              </a:rPr>
              <a:t>Two frameworks. One continuous cycle. Infinite enterprise value.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4114800" cy="4297680"/>
          </a:xfrm>
          <a:prstGeom prst="rect">
            <a:avLst/>
          </a:prstGeom>
          <a:solidFill>
            <a:srgbClr val="0A0C18"/>
          </a:solidFill>
          <a:ln w="12700">
            <a:solidFill>
              <a:srgbClr val="30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41148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OMG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OrchestrAI Model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7860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0AABB"/>
                </a:solidFill>
                <a:latin typeface="Calibri"/>
              </a:rPr>
              <a:t>Govern AI. Control Risk. Ensure Compliance.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9067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  01.  AI Inventory &amp; Registry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19856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  02.  Ownership &amp; RACI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49039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  03.  Risk 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07822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  04.  Approval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07408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  05.  Human Override &amp; Kill Switch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73659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  06.  Audit &amp; Compliance Reporting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1828800"/>
            <a:ext cx="3063240" cy="3657600"/>
          </a:xfrm>
          <a:prstGeom prst="rect">
            <a:avLst/>
          </a:prstGeom>
          <a:solidFill>
            <a:srgbClr val="0E101E"/>
          </a:solidFill>
          <a:ln w="9525">
            <a:solidFill>
              <a:srgbClr val="CC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196596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0AABB"/>
                </a:solidFill>
                <a:latin typeface="Calibri"/>
              </a:rPr>
              <a:t>TWO FRAMEWORKS.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249424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0AABB"/>
                </a:solidFill>
                <a:latin typeface="Calibri"/>
              </a:rPr>
              <a:t>ONE CONTINUOUS CYCLE.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633472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C1B1B"/>
                </a:solidFill>
                <a:latin typeface="Calibri"/>
              </a:rPr>
              <a:t>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52044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C1B1B"/>
                </a:solidFill>
                <a:latin typeface="Calibri"/>
              </a:rPr>
              <a:t>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85876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HARMONY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224528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A0AABB"/>
                </a:solidFill>
                <a:latin typeface="Calibri"/>
              </a:rPr>
              <a:t>Governed. Built. Delivered. Together.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1508760"/>
            <a:ext cx="4114800" cy="4297680"/>
          </a:xfrm>
          <a:prstGeom prst="rect">
            <a:avLst/>
          </a:prstGeom>
          <a:solidFill>
            <a:srgbClr val="120606"/>
          </a:solidFill>
          <a:ln w="12700">
            <a:solidFill>
              <a:srgbClr val="5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1508760"/>
            <a:ext cx="4114800" cy="73152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79" y="164592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ODF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1945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1B1B"/>
                </a:solidFill>
                <a:latin typeface="Calibri"/>
              </a:rPr>
              <a:t>OrchestrAI Delivery Framework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257860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0AABB"/>
                </a:solidFill>
                <a:latin typeface="Calibri"/>
              </a:rPr>
              <a:t>Build Faster. Validate Continuously. Deliver Value.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09067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  01.  Intent &amp; Outcome Definition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3419856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  02.  Requirements &amp; 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749039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  03.  AI-Assisted 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07822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  04.  AI-Generated Development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4407408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  05.  Testing &amp; Quality Assurance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473659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  06.  Deployment &amp; Improvement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989320"/>
            <a:ext cx="2148840" cy="530352"/>
          </a:xfrm>
          <a:prstGeom prst="rect">
            <a:avLst/>
          </a:prstGeom>
          <a:solidFill>
            <a:srgbClr val="100404"/>
          </a:solidFill>
          <a:ln w="6350">
            <a:solidFill>
              <a:srgbClr val="CC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05332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C1B1B"/>
                </a:solidFill>
                <a:latin typeface="Calibri"/>
              </a:rPr>
              <a:t>RBI-Aligned AI Governance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97480" y="5989320"/>
            <a:ext cx="2148840" cy="530352"/>
          </a:xfrm>
          <a:prstGeom prst="rect">
            <a:avLst/>
          </a:prstGeom>
          <a:solidFill>
            <a:srgbClr val="100404"/>
          </a:solidFill>
          <a:ln w="6350">
            <a:solidFill>
              <a:srgbClr val="CC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88920" y="605332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C1B1B"/>
                </a:solidFill>
                <a:latin typeface="Calibri"/>
              </a:rPr>
              <a:t>AI-Powered Speed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74920" y="5989320"/>
            <a:ext cx="2148840" cy="530352"/>
          </a:xfrm>
          <a:prstGeom prst="rect">
            <a:avLst/>
          </a:prstGeom>
          <a:solidFill>
            <a:srgbClr val="100404"/>
          </a:solidFill>
          <a:ln w="6350">
            <a:solidFill>
              <a:srgbClr val="CC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66360" y="605332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C1B1B"/>
                </a:solidFill>
                <a:latin typeface="Calibri"/>
              </a:rPr>
              <a:t>Risk Control &amp; Compliance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52360" y="5989320"/>
            <a:ext cx="2148840" cy="530352"/>
          </a:xfrm>
          <a:prstGeom prst="rect">
            <a:avLst/>
          </a:prstGeom>
          <a:solidFill>
            <a:srgbClr val="100404"/>
          </a:solidFill>
          <a:ln w="6350">
            <a:solidFill>
              <a:srgbClr val="CC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43800" y="605332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C1B1B"/>
                </a:solidFill>
                <a:latin typeface="Calibri"/>
              </a:rPr>
              <a:t>Human Oversight Always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29800" y="5989320"/>
            <a:ext cx="2148840" cy="530352"/>
          </a:xfrm>
          <a:prstGeom prst="rect">
            <a:avLst/>
          </a:prstGeom>
          <a:solidFill>
            <a:srgbClr val="100404"/>
          </a:solidFill>
          <a:ln w="6350">
            <a:solidFill>
              <a:srgbClr val="CC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21240" y="605332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C1B1B"/>
                </a:solidFill>
                <a:latin typeface="Calibri"/>
              </a:rPr>
              <a:t>Measurable Business Outcomes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4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A80"/>
                </a:solidFill>
                <a:latin typeface="Calibri"/>
              </a:rPr>
              <a:t>Human Orchestrates  |  AI Builds  |  Value Delivers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CC1B1B"/>
                </a:solidFill>
                <a:latin typeface="Calibri"/>
              </a:rPr>
              <a:t>OrchestrAI  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6A80"/>
                </a:solidFill>
                <a:latin typeface="Calibri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1B1B"/>
                </a:solidFill>
                <a:latin typeface="Calibri"/>
              </a:rPr>
              <a:t>THE ORCHESTRAI NEXT-GEN PHILOSOPHY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02336"/>
            <a:ext cx="731520" cy="38100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Balancing Human Wisdom with AI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698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ABB"/>
                </a:solidFill>
                <a:latin typeface="Calibri"/>
              </a:rPr>
              <a:t>The world's first AI-orchestrated delivery framework — purpose-built for the AI era.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2743200" cy="3840480"/>
          </a:xfrm>
          <a:prstGeom prst="rect">
            <a:avLst/>
          </a:prstGeom>
          <a:solidFill>
            <a:srgbClr val="0D1426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27432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62763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6366F1"/>
                </a:solidFill>
                <a:latin typeface="Calibri"/>
              </a:rP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40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06A80"/>
                </a:solidFill>
                <a:latin typeface="Calibri"/>
              </a:rPr>
              <a:t>HUMAN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4871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Human Wisdom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0175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366F1"/>
                </a:solidFill>
                <a:latin typeface="Calibri"/>
              </a:rPr>
              <a:t>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3649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06A80"/>
                </a:solidFill>
                <a:latin typeface="Calibri"/>
              </a:rPr>
              <a:t>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6118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366F1"/>
                </a:solidFill>
                <a:latin typeface="Calibri"/>
              </a:rPr>
              <a:t>AI Intelligence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2696" y="1508760"/>
            <a:ext cx="2743200" cy="3840480"/>
          </a:xfrm>
          <a:prstGeom prst="rect">
            <a:avLst/>
          </a:prstGeom>
          <a:solidFill>
            <a:srgbClr val="0D1426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82696" y="1508760"/>
            <a:ext cx="274320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82696" y="162763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A855F7"/>
                </a:solidFill>
                <a:latin typeface="Calibri"/>
              </a:rPr>
              <a:t>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82696" y="2240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06A80"/>
                </a:solidFill>
                <a:latin typeface="Calibri"/>
              </a:rPr>
              <a:t>HUMAN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82696" y="24871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Human Judgement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82696" y="30175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855F7"/>
                </a:solidFill>
                <a:latin typeface="Calibri"/>
              </a:rPr>
              <a:t>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82696" y="33649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06A80"/>
                </a:solidFill>
                <a:latin typeface="Calibri"/>
              </a:rPr>
              <a:t>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82696" y="36118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A855F7"/>
                </a:solidFill>
                <a:latin typeface="Calibri"/>
              </a:rPr>
              <a:t>AI Speed &amp; Analysis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1508760"/>
            <a:ext cx="2743200" cy="3840480"/>
          </a:xfrm>
          <a:prstGeom prst="rect">
            <a:avLst/>
          </a:prstGeom>
          <a:solidFill>
            <a:srgbClr val="0D14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45352" y="150876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162763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59E0B"/>
                </a:solidFill>
                <a:latin typeface="Calibri"/>
              </a:rPr>
              <a:t>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5352" y="2240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06A80"/>
                </a:solidFill>
                <a:latin typeface="Calibri"/>
              </a:rPr>
              <a:t>HUMAN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5352" y="24871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Human Creativity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30175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9E0B"/>
                </a:solidFill>
                <a:latin typeface="Calibri"/>
              </a:rPr>
              <a:t>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5352" y="33649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06A80"/>
                </a:solidFill>
                <a:latin typeface="Calibri"/>
              </a:rPr>
              <a:t>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36118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  <a:latin typeface="Calibri"/>
              </a:rPr>
              <a:t>AI Generation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08008" y="1508760"/>
            <a:ext cx="2743200" cy="3840480"/>
          </a:xfrm>
          <a:prstGeom prst="rect">
            <a:avLst/>
          </a:prstGeom>
          <a:solidFill>
            <a:srgbClr val="0D14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08008" y="1508760"/>
            <a:ext cx="2743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08008" y="162763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0B981"/>
                </a:solidFill>
                <a:latin typeface="Calibri"/>
              </a:rPr>
              <a:t>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08008" y="2240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06A80"/>
                </a:solidFill>
                <a:latin typeface="Calibri"/>
              </a:rPr>
              <a:t>HUMAN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8008" y="24871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Human Accountability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8008" y="30175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  <a:latin typeface="Calibri"/>
              </a:rPr>
              <a:t>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8008" y="33649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06A80"/>
                </a:solidFill>
                <a:latin typeface="Calibri"/>
              </a:rPr>
              <a:t>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08008" y="36118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0B981"/>
                </a:solidFill>
                <a:latin typeface="Calibri"/>
              </a:rPr>
              <a:t>AI Automation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532120"/>
            <a:ext cx="11521440" cy="640080"/>
          </a:xfrm>
          <a:prstGeom prst="rect">
            <a:avLst/>
          </a:prstGeom>
          <a:solidFill>
            <a:srgbClr val="0A0303"/>
          </a:solidFill>
          <a:ln w="9525">
            <a:solidFill>
              <a:srgbClr val="CC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59612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0AABB"/>
                </a:solidFill>
                <a:latin typeface="Calibri"/>
              </a:rPr>
              <a:t>OrchestrAI elevates the human to their highest value — decisions, judgement &amp; accountability — while AI executes at machine speed.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6263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366F1"/>
                </a:solidFill>
                <a:latin typeface="Calibri"/>
              </a:rPr>
              <a:t>👥  Human Orchestrates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6263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1B1B"/>
                </a:solidFill>
                <a:latin typeface="Calibri"/>
              </a:rPr>
              <a:t>🤖  AI Builds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6263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Calibri"/>
              </a:rPr>
              <a:t>✅  Value Delivers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4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A80"/>
                </a:solidFill>
                <a:latin typeface="Calibri"/>
              </a:rPr>
              <a:t>Human Orchestrates  |  AI Builds  |  Value Delivers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CC1B1B"/>
                </a:solidFill>
                <a:latin typeface="Calibri"/>
              </a:rPr>
              <a:t>OrchestrAI  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6A80"/>
                </a:solidFill>
                <a:latin typeface="Calibri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1B1B"/>
                </a:solidFill>
                <a:latin typeface="Calibri"/>
              </a:rPr>
              <a:t>ODF — ORCHESTRAI DELIVERY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02336"/>
            <a:ext cx="731520" cy="38100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6-Stage AI-Orchestrated Delivery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698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ABB"/>
                </a:solidFill>
                <a:latin typeface="Calibri"/>
              </a:rPr>
              <a:t>A continuous operating rhythm — from business intent to production, and back again.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81328"/>
            <a:ext cx="1920240" cy="4846320"/>
          </a:xfrm>
          <a:prstGeom prst="rect">
            <a:avLst/>
          </a:prstGeom>
          <a:solidFill>
            <a:srgbClr val="0D1426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481328"/>
            <a:ext cx="192024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57276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366F1"/>
                </a:solidFill>
                <a:latin typeface="Calibr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93392"/>
            <a:ext cx="1645920" cy="502920"/>
          </a:xfrm>
          <a:prstGeom prst="rect">
            <a:avLst/>
          </a:prstGeom>
          <a:solidFill>
            <a:srgbClr val="0A0A14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02996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366F1"/>
                </a:solidFill>
                <a:latin typeface="Calibri"/>
              </a:rPr>
              <a:t>Human
Orchestrated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578608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Intent &amp;
Outcome
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401568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ABB"/>
                </a:solidFill>
                <a:latin typeface="Calibri"/>
              </a:rPr>
              <a:t>Define goals, success metrics,
stakeholders &amp; guardrails
before any AI is prompted.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9260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06A80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21992" y="1481328"/>
            <a:ext cx="1920240" cy="4846320"/>
          </a:xfrm>
          <a:prstGeom prst="rect">
            <a:avLst/>
          </a:prstGeom>
          <a:solidFill>
            <a:srgbClr val="0D1426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21992" y="1481328"/>
            <a:ext cx="1920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21992" y="157276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D3EE"/>
                </a:solidFill>
                <a:latin typeface="Calibri"/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59152" y="1993392"/>
            <a:ext cx="1645920" cy="502920"/>
          </a:xfrm>
          <a:prstGeom prst="rect">
            <a:avLst/>
          </a:prstGeom>
          <a:solidFill>
            <a:srgbClr val="0A0A14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13432" y="202996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2D3EE"/>
                </a:solidFill>
                <a:latin typeface="Calibri"/>
              </a:rPr>
              <a:t>Human + AI
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1992" y="2578608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Requirements
&amp;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13432" y="3401568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ABB"/>
                </a:solidFill>
                <a:latin typeface="Calibri"/>
              </a:rPr>
              <a:t>Capture functional, non-functional
needs, actors, rules &amp;
edge cases in plain English.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6512" y="29260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06A80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15384" y="1481328"/>
            <a:ext cx="1920240" cy="4846320"/>
          </a:xfrm>
          <a:prstGeom prst="rect">
            <a:avLst/>
          </a:prstGeom>
          <a:solidFill>
            <a:srgbClr val="0D1426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15384" y="1481328"/>
            <a:ext cx="192024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15384" y="157276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855F7"/>
                </a:solidFill>
                <a:latin typeface="Calibri"/>
              </a:rPr>
              <a:t>03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52544" y="1993392"/>
            <a:ext cx="1645920" cy="502920"/>
          </a:xfrm>
          <a:prstGeom prst="rect">
            <a:avLst/>
          </a:prstGeom>
          <a:solidFill>
            <a:srgbClr val="0A0A14"/>
          </a:solidFill>
          <a:ln w="63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06824" y="202996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855F7"/>
                </a:solidFill>
                <a:latin typeface="Calibri"/>
              </a:rPr>
              <a:t>🤖 AI Design
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15384" y="2578608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AI-Assisted
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6824" y="3401568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ABB"/>
                </a:solidFill>
                <a:latin typeface="Calibri"/>
              </a:rPr>
              <a:t>AI generates architecture &amp;
solution designs. Human
reviews, selects &amp; locks.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9904" y="29260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06A80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8776" y="1481328"/>
            <a:ext cx="1920240" cy="4846320"/>
          </a:xfrm>
          <a:prstGeom prst="rect">
            <a:avLst/>
          </a:prstGeom>
          <a:solidFill>
            <a:srgbClr val="0D1426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08776" y="1481328"/>
            <a:ext cx="19202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08776" y="157276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04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45936" y="1993392"/>
            <a:ext cx="1645920" cy="502920"/>
          </a:xfrm>
          <a:prstGeom prst="rect">
            <a:avLst/>
          </a:prstGeom>
          <a:solidFill>
            <a:srgbClr val="0A0A14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0216" y="202996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0B981"/>
                </a:solidFill>
                <a:latin typeface="Calibri"/>
              </a:rPr>
              <a:t>🤖 AI Code
Engine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8776" y="2578608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AI-Generated
Development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0216" y="3401568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ABB"/>
                </a:solidFill>
                <a:latin typeface="Calibri"/>
              </a:rPr>
              <a:t>AI accelerates coding, APIs,
schemas &amp; integrations.
Human validates each component.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29260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06A80"/>
                </a:solidFill>
                <a:latin typeface="Calibri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02168" y="1481328"/>
            <a:ext cx="1920240" cy="4846320"/>
          </a:xfrm>
          <a:prstGeom prst="rect">
            <a:avLst/>
          </a:prstGeom>
          <a:solidFill>
            <a:srgbClr val="0D1426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02168" y="1481328"/>
            <a:ext cx="1920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02168" y="157276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  <a:latin typeface="Calibri"/>
              </a:rPr>
              <a:t>05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39328" y="1993392"/>
            <a:ext cx="1645920" cy="502920"/>
          </a:xfrm>
          <a:prstGeom prst="rect">
            <a:avLst/>
          </a:prstGeom>
          <a:solidFill>
            <a:srgbClr val="0A0A14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93608" y="202996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  <a:latin typeface="Calibri"/>
              </a:rPr>
              <a:t>AI + Human
QA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02168" y="2578608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Testing &amp;
Quality
Assurance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93608" y="3401568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ABB"/>
                </a:solidFill>
                <a:latin typeface="Calibri"/>
              </a:rPr>
              <a:t>AI + Human testing for
quality, security &amp; compliance.
No component ships unvalidated.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76688" y="29260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06A80"/>
                </a:solidFill>
                <a:latin typeface="Calibri"/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195560" y="1481328"/>
            <a:ext cx="1920240" cy="4846320"/>
          </a:xfrm>
          <a:prstGeom prst="rect">
            <a:avLst/>
          </a:prstGeom>
          <a:solidFill>
            <a:srgbClr val="0D1426"/>
          </a:solidFill>
          <a:ln w="9525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195560" y="1481328"/>
            <a:ext cx="1920240" cy="54864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95560" y="157276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B7185"/>
                </a:solidFill>
                <a:latin typeface="Calibri"/>
              </a:rPr>
              <a:t>06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332720" y="1993392"/>
            <a:ext cx="1645920" cy="502920"/>
          </a:xfrm>
          <a:prstGeom prst="rect">
            <a:avLst/>
          </a:prstGeom>
          <a:solidFill>
            <a:srgbClr val="0A0A14"/>
          </a:solidFill>
          <a:ln w="63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287000" y="202996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B7185"/>
                </a:solidFill>
                <a:latin typeface="Calibri"/>
              </a:rPr>
              <a:t>Continuous
Evolution 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95560" y="2578608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Deployment
&amp; Improvement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87000" y="3401568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ABB"/>
                </a:solidFill>
                <a:latin typeface="Calibri"/>
              </a:rPr>
              <a:t>Rapid delivery, business feedback
&amp; continuous iteration.
Stage 06 loops back to Stage 01.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6400800"/>
            <a:ext cx="11704320" cy="274320"/>
          </a:xfrm>
          <a:prstGeom prst="rect">
            <a:avLst/>
          </a:prstGeom>
          <a:solidFill>
            <a:srgbClr val="100404"/>
          </a:solidFill>
          <a:ln w="6350">
            <a:solidFill>
              <a:srgbClr val="CC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642823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C1B1B"/>
                </a:solidFill>
                <a:latin typeface="Calibri"/>
              </a:rPr>
              <a:t>BUILD FAST  ·  DELIVER SMART  ·  IMPROVE CONTINUOUSLY  ·  LOOP BACK TO INTENT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4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A80"/>
                </a:solidFill>
                <a:latin typeface="Calibri"/>
              </a:rPr>
              <a:t>Human Orchestrates  |  AI Builds  |  Value Delivers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CC1B1B"/>
                </a:solidFill>
                <a:latin typeface="Calibri"/>
              </a:rPr>
              <a:t>OrchestrAI  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6A80"/>
                </a:solidFill>
                <a:latin typeface="Calibri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1B1B"/>
                </a:solidFill>
                <a:latin typeface="Calibri"/>
              </a:rPr>
              <a:t>ODF CEREMONIES — YOUR NEW ENTERPRISE DELIVERY RHYTHM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02336"/>
            <a:ext cx="731520" cy="38100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5 OrchestrAI Ceremonies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698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ABB"/>
                </a:solidFill>
                <a:latin typeface="Calibri"/>
              </a:rPr>
              <a:t>OrchestrAI replaces Scrum ceremonies with AI-native equivalents that deliver in days, not weeks.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81328"/>
            <a:ext cx="2231136" cy="4846320"/>
          </a:xfrm>
          <a:prstGeom prst="rect">
            <a:avLst/>
          </a:prstGeom>
          <a:solidFill>
            <a:srgbClr val="0D1426"/>
          </a:solidFill>
          <a:ln w="9525">
            <a:solidFill>
              <a:srgbClr val="CC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481328"/>
            <a:ext cx="2231136" cy="54864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600200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CC1B1B"/>
                </a:solidFill>
                <a:latin typeface="Calibri"/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139696"/>
            <a:ext cx="22311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INTENT
WORKSHOP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88920"/>
            <a:ext cx="1956816" cy="438912"/>
          </a:xfrm>
          <a:prstGeom prst="rect">
            <a:avLst/>
          </a:prstGeom>
          <a:solidFill>
            <a:srgbClr val="0A0A14"/>
          </a:solidFill>
          <a:ln w="6350">
            <a:solidFill>
              <a:srgbClr val="CC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816352"/>
            <a:ext cx="2048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C1B1B"/>
                </a:solidFill>
                <a:latin typeface="Calibri"/>
              </a:rPr>
              <a:t>Replaces:
Sprint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310128"/>
            <a:ext cx="204825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ABB"/>
                </a:solidFill>
                <a:latin typeface="Calibri"/>
              </a:rPr>
              <a:t>Define outcome, workflows, actors,
rules &amp; guardrails in plain English.
AI builds the delivery plan.
Duration: 1–2 hours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24328" y="1481328"/>
            <a:ext cx="2231136" cy="4846320"/>
          </a:xfrm>
          <a:prstGeom prst="rect">
            <a:avLst/>
          </a:prstGeom>
          <a:solidFill>
            <a:srgbClr val="0D1426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24328" y="1481328"/>
            <a:ext cx="2231136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24328" y="1600200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6366F1"/>
                </a:solidFill>
                <a:latin typeface="Calibri"/>
              </a:rP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4328" y="2139696"/>
            <a:ext cx="22311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MICRO
SPRINT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61488" y="2788920"/>
            <a:ext cx="1956816" cy="438912"/>
          </a:xfrm>
          <a:prstGeom prst="rect">
            <a:avLst/>
          </a:prstGeom>
          <a:solidFill>
            <a:srgbClr val="0A0A14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15768" y="2816352"/>
            <a:ext cx="2048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366F1"/>
                </a:solidFill>
                <a:latin typeface="Calibri"/>
              </a:rPr>
              <a:t>Replaces:
2–4 Week Sprint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5768" y="3310128"/>
            <a:ext cx="204825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ABB"/>
                </a:solidFill>
                <a:latin typeface="Calibri"/>
              </a:rPr>
              <a:t>AI builds a focused component
in 1–2 days. Each sprint delivers
something demonstrable &amp; testable.
Duration: 1–2 days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0056" y="1481328"/>
            <a:ext cx="2231136" cy="4846320"/>
          </a:xfrm>
          <a:prstGeom prst="rect">
            <a:avLst/>
          </a:prstGeom>
          <a:solidFill>
            <a:srgbClr val="0D1426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0056" y="1481328"/>
            <a:ext cx="2231136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0056" y="1600200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A855F7"/>
                </a:solidFill>
                <a:latin typeface="Calibri"/>
              </a:rPr>
              <a:t>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0056" y="2139696"/>
            <a:ext cx="22311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DAILY
AI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57216" y="2788920"/>
            <a:ext cx="1956816" cy="438912"/>
          </a:xfrm>
          <a:prstGeom prst="rect">
            <a:avLst/>
          </a:prstGeom>
          <a:solidFill>
            <a:srgbClr val="0A0A14"/>
          </a:solidFill>
          <a:ln w="63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11496" y="2816352"/>
            <a:ext cx="2048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855F7"/>
                </a:solidFill>
                <a:latin typeface="Calibri"/>
              </a:rPr>
              <a:t>Replaces:
Daily Standup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11496" y="3310128"/>
            <a:ext cx="204825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ABB"/>
                </a:solidFill>
                <a:latin typeface="Calibri"/>
              </a:rPr>
              <a:t>What did AI generate?
What was validated? What's next?
Blockers are re-prompted,
not escalated. Duration: 15–30 min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15783" y="1481328"/>
            <a:ext cx="2231136" cy="4846320"/>
          </a:xfrm>
          <a:prstGeom prst="rect">
            <a:avLst/>
          </a:prstGeom>
          <a:solidFill>
            <a:srgbClr val="0D1426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15783" y="1481328"/>
            <a:ext cx="2231136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15783" y="1600200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D3EE"/>
                </a:solidFill>
                <a:latin typeface="Calibri"/>
              </a:rPr>
              <a:t>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15783" y="2139696"/>
            <a:ext cx="22311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DAILY DEMO
REVIEW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52943" y="2788920"/>
            <a:ext cx="1956816" cy="438912"/>
          </a:xfrm>
          <a:prstGeom prst="rect">
            <a:avLst/>
          </a:prstGeom>
          <a:solidFill>
            <a:srgbClr val="0A0A14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07223" y="2816352"/>
            <a:ext cx="2048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2D3EE"/>
                </a:solidFill>
                <a:latin typeface="Calibri"/>
              </a:rPr>
              <a:t>Replaces:
Sprint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07223" y="3310128"/>
            <a:ext cx="204825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ABB"/>
                </a:solidFill>
                <a:latin typeface="Calibri"/>
              </a:rPr>
              <a:t>Continuous demos, immediate
stakeholder feedback &amp; iteration.
No waiting for end-of-sprint.
Duration: 30–60 min daily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11512" y="1481328"/>
            <a:ext cx="2231136" cy="4846320"/>
          </a:xfrm>
          <a:prstGeom prst="rect">
            <a:avLst/>
          </a:prstGeom>
          <a:solidFill>
            <a:srgbClr val="0D1426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11512" y="1481328"/>
            <a:ext cx="2231136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11512" y="1600200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0B981"/>
                </a:solidFill>
                <a:latin typeface="Calibri"/>
              </a:rPr>
              <a:t>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11512" y="2139696"/>
            <a:ext cx="22311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CONTINUOUS
EVOLUTION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48672" y="2788920"/>
            <a:ext cx="1956816" cy="438912"/>
          </a:xfrm>
          <a:prstGeom prst="rect">
            <a:avLst/>
          </a:prstGeom>
          <a:solidFill>
            <a:srgbClr val="0A0A14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02952" y="2816352"/>
            <a:ext cx="2048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0B981"/>
                </a:solidFill>
                <a:latin typeface="Calibri"/>
              </a:rPr>
              <a:t>Replaces:
Retrospective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02952" y="3310128"/>
            <a:ext cx="204825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ABB"/>
                </a:solidFill>
                <a:latin typeface="Calibri"/>
              </a:rPr>
              <a:t>Daily: improve process &amp; adapt
in real time. Every cycle makes
the next one faster &amp; smarter.
Duration: 30 min daily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6400800"/>
            <a:ext cx="11704320" cy="274320"/>
          </a:xfrm>
          <a:prstGeom prst="rect">
            <a:avLst/>
          </a:prstGeom>
          <a:solidFill>
            <a:srgbClr val="100404"/>
          </a:solidFill>
          <a:ln w="6350">
            <a:solidFill>
              <a:srgbClr val="CC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42823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C1B1B"/>
                </a:solidFill>
                <a:latin typeface="Calibri"/>
              </a:rPr>
              <a:t>INTENT  →  BUILD  →  REVIEW  →  DEMO  →  EVOLVE  →  LOOP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4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A80"/>
                </a:solidFill>
                <a:latin typeface="Calibri"/>
              </a:rPr>
              <a:t>Human Orchestrates  |  AI Builds  |  Value Delivers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CC1B1B"/>
                </a:solidFill>
                <a:latin typeface="Calibri"/>
              </a:rPr>
              <a:t>OrchestrAI  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6A80"/>
                </a:solidFill>
                <a:latin typeface="Calibri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1B1B"/>
                </a:solidFill>
                <a:latin typeface="Calibri"/>
              </a:rPr>
              <a:t>SCRUM vs ORCHESTRAI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02336"/>
            <a:ext cx="731520" cy="38100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Which Development Model Delivers Enterprise Applications Faster?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417320"/>
            <a:ext cx="1828800" cy="411480"/>
          </a:xfrm>
          <a:prstGeom prst="rect">
            <a:avLst/>
          </a:prstGeom>
          <a:solidFill>
            <a:srgbClr val="0D1426"/>
          </a:solidFill>
          <a:ln w="6350">
            <a:solidFill>
              <a:srgbClr val="1E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06A80"/>
                </a:solidFill>
                <a:latin typeface="Calibri"/>
              </a:rPr>
              <a:t>DIMENSION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148840" y="1417320"/>
            <a:ext cx="3611880" cy="411480"/>
          </a:xfrm>
          <a:prstGeom prst="rect">
            <a:avLst/>
          </a:prstGeom>
          <a:solidFill>
            <a:srgbClr val="1A0606"/>
          </a:solidFill>
          <a:ln w="6350">
            <a:solidFill>
              <a:srgbClr val="8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146304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7070"/>
                </a:solidFill>
                <a:latin typeface="Calibri"/>
              </a:rPr>
              <a:t>🔴  TRADITIONAL SCRUM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417320"/>
            <a:ext cx="3840480" cy="411480"/>
          </a:xfrm>
          <a:prstGeom prst="rect">
            <a:avLst/>
          </a:prstGeom>
          <a:solidFill>
            <a:srgbClr val="041208"/>
          </a:solidFill>
          <a:ln w="6350">
            <a:solidFill>
              <a:srgbClr val="106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4630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Calibri"/>
              </a:rPr>
              <a:t>🤖  ORCHESTRAI ODF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920240"/>
            <a:ext cx="1828800" cy="594360"/>
          </a:xfrm>
          <a:prstGeom prst="rect">
            <a:avLst/>
          </a:prstGeom>
          <a:solidFill>
            <a:srgbClr val="0D1426"/>
          </a:solidFill>
          <a:ln w="5080">
            <a:solidFill>
              <a:srgbClr val="1E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99339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AABB"/>
                </a:solidFill>
                <a:latin typeface="Calibri"/>
              </a:rPr>
              <a:t>Sprint Duration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1920240"/>
            <a:ext cx="3611880" cy="594360"/>
          </a:xfrm>
          <a:prstGeom prst="rect">
            <a:avLst/>
          </a:prstGeom>
          <a:solidFill>
            <a:srgbClr val="140606"/>
          </a:solidFill>
          <a:ln w="5080">
            <a:solidFill>
              <a:srgbClr val="50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67712" y="199339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1–2 Week Sprint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029968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1B1B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1920240"/>
            <a:ext cx="3840480" cy="594360"/>
          </a:xfrm>
          <a:prstGeom prst="rect">
            <a:avLst/>
          </a:prstGeom>
          <a:solidFill>
            <a:srgbClr val="041208"/>
          </a:solidFill>
          <a:ln w="5080">
            <a:solidFill>
              <a:srgbClr val="105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61888" y="19933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1–2 Day Micro Sprint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578608"/>
            <a:ext cx="1828800" cy="594360"/>
          </a:xfrm>
          <a:prstGeom prst="rect">
            <a:avLst/>
          </a:prstGeom>
          <a:solidFill>
            <a:srgbClr val="070C1A"/>
          </a:solidFill>
          <a:ln w="5080">
            <a:solidFill>
              <a:srgbClr val="1E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65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AABB"/>
                </a:solidFill>
                <a:latin typeface="Calibri"/>
              </a:rPr>
              <a:t>Sprint Planning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8840" y="2578608"/>
            <a:ext cx="3611880" cy="594360"/>
          </a:xfrm>
          <a:prstGeom prst="rect">
            <a:avLst/>
          </a:prstGeom>
          <a:solidFill>
            <a:srgbClr val="140606"/>
          </a:solidFill>
          <a:ln w="5080">
            <a:solidFill>
              <a:srgbClr val="50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67712" y="2651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Estimate, prioritise,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268833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1B1B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2578608"/>
            <a:ext cx="3840480" cy="594360"/>
          </a:xfrm>
          <a:prstGeom prst="rect">
            <a:avLst/>
          </a:prstGeom>
          <a:solidFill>
            <a:srgbClr val="041208"/>
          </a:solidFill>
          <a:ln w="5080">
            <a:solidFill>
              <a:srgbClr val="105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61888" y="2651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Intent Workshop — AI builds the plan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3236976"/>
            <a:ext cx="1828800" cy="594360"/>
          </a:xfrm>
          <a:prstGeom prst="rect">
            <a:avLst/>
          </a:prstGeom>
          <a:solidFill>
            <a:srgbClr val="0D1426"/>
          </a:solidFill>
          <a:ln w="5080">
            <a:solidFill>
              <a:srgbClr val="1E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31012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AABB"/>
                </a:solidFill>
                <a:latin typeface="Calibri"/>
              </a:rPr>
              <a:t>Daily Standup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3236976"/>
            <a:ext cx="3611880" cy="594360"/>
          </a:xfrm>
          <a:prstGeom prst="rect">
            <a:avLst/>
          </a:prstGeom>
          <a:solidFill>
            <a:srgbClr val="140606"/>
          </a:solidFill>
          <a:ln w="5080">
            <a:solidFill>
              <a:srgbClr val="50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67712" y="3310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Team sync on tasks &amp; blockers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3346704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1B1B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0" y="3236976"/>
            <a:ext cx="3840480" cy="594360"/>
          </a:xfrm>
          <a:prstGeom prst="rect">
            <a:avLst/>
          </a:prstGeom>
          <a:solidFill>
            <a:srgbClr val="041208"/>
          </a:solidFill>
          <a:ln w="5080">
            <a:solidFill>
              <a:srgbClr val="105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61888" y="33101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Daily AI Review — What generated? What's next?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3895344"/>
            <a:ext cx="1828800" cy="594360"/>
          </a:xfrm>
          <a:prstGeom prst="rect">
            <a:avLst/>
          </a:prstGeom>
          <a:solidFill>
            <a:srgbClr val="070C1A"/>
          </a:solidFill>
          <a:ln w="5080">
            <a:solidFill>
              <a:srgbClr val="1E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396849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AABB"/>
                </a:solidFill>
                <a:latin typeface="Calibri"/>
              </a:rPr>
              <a:t>Sprint Review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48840" y="3895344"/>
            <a:ext cx="3611880" cy="594360"/>
          </a:xfrm>
          <a:prstGeom prst="rect">
            <a:avLst/>
          </a:prstGeom>
          <a:solidFill>
            <a:srgbClr val="140606"/>
          </a:solidFill>
          <a:ln w="5080">
            <a:solidFill>
              <a:srgbClr val="50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67712" y="396849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Demo at end of sprint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005072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1B1B"/>
                </a:solidFill>
                <a:latin typeface="Calibri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52160" y="3895344"/>
            <a:ext cx="3840480" cy="594360"/>
          </a:xfrm>
          <a:prstGeom prst="rect">
            <a:avLst/>
          </a:prstGeom>
          <a:solidFill>
            <a:srgbClr val="041208"/>
          </a:solidFill>
          <a:ln w="5080">
            <a:solidFill>
              <a:srgbClr val="105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61888" y="396849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Daily Demo Review — Continuous, immediate feedback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4553712"/>
            <a:ext cx="1828800" cy="594360"/>
          </a:xfrm>
          <a:prstGeom prst="rect">
            <a:avLst/>
          </a:prstGeom>
          <a:solidFill>
            <a:srgbClr val="0D1426"/>
          </a:solidFill>
          <a:ln w="5080">
            <a:solidFill>
              <a:srgbClr val="1E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462686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AABB"/>
                </a:solidFill>
                <a:latin typeface="Calibri"/>
              </a:rPr>
              <a:t>Retrospective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48840" y="4553712"/>
            <a:ext cx="3611880" cy="594360"/>
          </a:xfrm>
          <a:prstGeom prst="rect">
            <a:avLst/>
          </a:prstGeom>
          <a:solidFill>
            <a:srgbClr val="140606"/>
          </a:solidFill>
          <a:ln w="5080">
            <a:solidFill>
              <a:srgbClr val="50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67712" y="462686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Improve in next sprint (weeks)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46634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1B1B"/>
                </a:solidFill>
                <a:latin typeface="Calibri"/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52160" y="4553712"/>
            <a:ext cx="3840480" cy="594360"/>
          </a:xfrm>
          <a:prstGeom prst="rect">
            <a:avLst/>
          </a:prstGeom>
          <a:solidFill>
            <a:srgbClr val="041208"/>
          </a:solidFill>
          <a:ln w="5080">
            <a:solidFill>
              <a:srgbClr val="105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61888" y="462686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Continuous Evolution — Daily, real-time improvement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" y="5212079"/>
            <a:ext cx="1828800" cy="594360"/>
          </a:xfrm>
          <a:prstGeom prst="rect">
            <a:avLst/>
          </a:prstGeom>
          <a:solidFill>
            <a:srgbClr val="070C1A"/>
          </a:solidFill>
          <a:ln w="5080">
            <a:solidFill>
              <a:srgbClr val="1E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5285231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AABB"/>
                </a:solidFill>
                <a:latin typeface="Calibri"/>
              </a:rPr>
              <a:t>Who Builds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48840" y="5212079"/>
            <a:ext cx="3611880" cy="594360"/>
          </a:xfrm>
          <a:prstGeom prst="rect">
            <a:avLst/>
          </a:prstGeom>
          <a:solidFill>
            <a:srgbClr val="140606"/>
          </a:solidFill>
          <a:ln w="5080">
            <a:solidFill>
              <a:srgbClr val="50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67712" y="5285231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Human develops &amp; tests manually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0" y="5321807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1B1B"/>
                </a:solidFill>
                <a:latin typeface="Calibri"/>
              </a:rPr>
              <a:t>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52160" y="5212079"/>
            <a:ext cx="3840480" cy="594360"/>
          </a:xfrm>
          <a:prstGeom prst="rect">
            <a:avLst/>
          </a:prstGeom>
          <a:solidFill>
            <a:srgbClr val="041208"/>
          </a:solidFill>
          <a:ln w="5080">
            <a:solidFill>
              <a:srgbClr val="105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61888" y="5285231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AI Generates, Humans Validate &amp; Own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29800" y="1417320"/>
            <a:ext cx="2286000" cy="4773168"/>
          </a:xfrm>
          <a:prstGeom prst="rect">
            <a:avLst/>
          </a:prstGeom>
          <a:solidFill>
            <a:srgbClr val="0A0303"/>
          </a:solidFill>
          <a:ln w="9525">
            <a:solidFill>
              <a:srgbClr val="CC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21240" y="1481328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C1B1B"/>
                </a:solidFill>
                <a:latin typeface="Calibri"/>
              </a:rPr>
              <a:t>THE ORCHESTRAI
ADVANTAGE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21240" y="217627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B"/>
                </a:solidFill>
                <a:latin typeface="Calibri"/>
              </a:rPr>
              <a:t>✔  Build in Days, Not Months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21240" y="262432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B"/>
                </a:solidFill>
                <a:latin typeface="Calibri"/>
              </a:rPr>
              <a:t>✔  Daily Demonstrable Progress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21240" y="307238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B"/>
                </a:solidFill>
                <a:latin typeface="Calibri"/>
              </a:rPr>
              <a:t>✔  AI-Generated Code, APIs &amp; Tests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21240" y="3520439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B"/>
                </a:solidFill>
                <a:latin typeface="Calibri"/>
              </a:rPr>
              <a:t>✔  Continuous Validation (UAT-Ready)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21240" y="396849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B"/>
                </a:solidFill>
                <a:latin typeface="Calibri"/>
              </a:rPr>
              <a:t>✔  Faster Response to Change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21240" y="441655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B"/>
                </a:solidFill>
                <a:latin typeface="Calibri"/>
              </a:rPr>
              <a:t>✔  Human Oversight + AI Execution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21240" y="486460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B"/>
                </a:solidFill>
                <a:latin typeface="Calibri"/>
              </a:rPr>
              <a:t>✔  Proved In Practice (PIP)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8600" y="6236208"/>
            <a:ext cx="2103120" cy="475488"/>
          </a:xfrm>
          <a:prstGeom prst="rect">
            <a:avLst/>
          </a:prstGeom>
          <a:solidFill>
            <a:srgbClr val="100404"/>
          </a:solidFill>
          <a:ln w="6350">
            <a:solidFill>
              <a:srgbClr val="CC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28600" y="625449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1B1B"/>
                </a:solidFill>
                <a:latin typeface="Calibri"/>
              </a:rPr>
              <a:t>⚡ 10X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8600" y="6464808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0AABB"/>
                </a:solidFill>
                <a:latin typeface="Calibri"/>
              </a:rPr>
              <a:t>Faster Delivery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60320" y="6236208"/>
            <a:ext cx="2103120" cy="475488"/>
          </a:xfrm>
          <a:prstGeom prst="rect">
            <a:avLst/>
          </a:prstGeom>
          <a:solidFill>
            <a:srgbClr val="100404"/>
          </a:solidFill>
          <a:ln w="6350">
            <a:solidFill>
              <a:srgbClr val="CC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60320" y="625449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1B1B"/>
                </a:solidFill>
                <a:latin typeface="Calibri"/>
              </a:rPr>
              <a:t>📅 1–2 DAY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60320" y="6464808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0AABB"/>
                </a:solidFill>
                <a:latin typeface="Calibri"/>
              </a:rPr>
              <a:t>Micro Sprints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92040" y="6236208"/>
            <a:ext cx="2103120" cy="475488"/>
          </a:xfrm>
          <a:prstGeom prst="rect">
            <a:avLst/>
          </a:prstGeom>
          <a:solidFill>
            <a:srgbClr val="100404"/>
          </a:solidFill>
          <a:ln w="6350">
            <a:solidFill>
              <a:srgbClr val="CC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92040" y="625449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1B1B"/>
                </a:solidFill>
                <a:latin typeface="Calibri"/>
              </a:rPr>
              <a:t>👥 DAILY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92040" y="6464808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0AABB"/>
                </a:solidFill>
                <a:latin typeface="Calibri"/>
              </a:rPr>
              <a:t>Business Feedback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223759" y="6236208"/>
            <a:ext cx="2103120" cy="475488"/>
          </a:xfrm>
          <a:prstGeom prst="rect">
            <a:avLst/>
          </a:prstGeom>
          <a:solidFill>
            <a:srgbClr val="100404"/>
          </a:solidFill>
          <a:ln w="6350">
            <a:solidFill>
              <a:srgbClr val="CC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23759" y="625449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1B1B"/>
                </a:solidFill>
                <a:latin typeface="Calibri"/>
              </a:rPr>
              <a:t>📦 70–80%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23759" y="6464808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0AABB"/>
                </a:solidFill>
                <a:latin typeface="Calibri"/>
              </a:rPr>
              <a:t>MVP Rapidly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4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A80"/>
                </a:solidFill>
                <a:latin typeface="Calibri"/>
              </a:rPr>
              <a:t>Human Orchestrates  |  AI Builds  |  Value Delivers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CC1B1B"/>
                </a:solidFill>
                <a:latin typeface="Calibri"/>
              </a:rPr>
              <a:t>OrchestrAI  ★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6A80"/>
                </a:solidFill>
                <a:latin typeface="Calibri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1B1B"/>
                </a:solidFill>
                <a:latin typeface="Calibri"/>
              </a:rPr>
              <a:t>ODF — THE 6 CORE PRINCIPLES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02336"/>
            <a:ext cx="731520" cy="38100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Not Optional. Not Situational. Always.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698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ABB"/>
                </a:solidFill>
                <a:latin typeface="Calibri"/>
              </a:rPr>
              <a:t>Every OrchestrAI ODF delivery — regardless of domain, complexity, or team size — runs on these 6 principles.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508760"/>
            <a:ext cx="3749039" cy="2057400"/>
          </a:xfrm>
          <a:prstGeom prst="rect">
            <a:avLst/>
          </a:prstGeom>
          <a:solidFill>
            <a:srgbClr val="0D1426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508760"/>
            <a:ext cx="3749039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🤖  01  —  AI as Primary Builder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347471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The AI engine writes all code, schemas &amp; tests.
The Lead orchestrates — never codes manually.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15384" y="1508760"/>
            <a:ext cx="3749039" cy="2057400"/>
          </a:xfrm>
          <a:prstGeom prst="rect">
            <a:avLst/>
          </a:prstGeom>
          <a:solidFill>
            <a:srgbClr val="0D1426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15384" y="1508760"/>
            <a:ext cx="3749039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2544" y="1645920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👤  02  —  Human as Orchestrator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2544" y="2103120"/>
            <a:ext cx="347471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Humans make all decisions, set all constraints
&amp; own all approvals. AI never decides alone.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2168" y="1508760"/>
            <a:ext cx="3749039" cy="2057400"/>
          </a:xfrm>
          <a:prstGeom prst="rect">
            <a:avLst/>
          </a:prstGeom>
          <a:solidFill>
            <a:srgbClr val="0D1426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8" y="1508760"/>
            <a:ext cx="3749039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645920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💬  03  —  Plain-English Driven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103120"/>
            <a:ext cx="347471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Conversational, precise specifications —
not dry architecture docs or user stories.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794760"/>
            <a:ext cx="3749039" cy="2057400"/>
          </a:xfrm>
          <a:prstGeom prst="rect">
            <a:avLst/>
          </a:prstGeom>
          <a:solidFill>
            <a:srgbClr val="0D1426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3794760"/>
            <a:ext cx="3749039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931920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🔄  04  —  Continuous 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389120"/>
            <a:ext cx="347471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Sprints replaced by constant feature deployments.
Every day produces something demonstrable.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15384" y="3794760"/>
            <a:ext cx="3749039" cy="2057400"/>
          </a:xfrm>
          <a:prstGeom prst="rect">
            <a:avLst/>
          </a:prstGeom>
          <a:solidFill>
            <a:srgbClr val="0D1426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15384" y="3794760"/>
            <a:ext cx="374903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2544" y="3931920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⚡  05  —  Instant Iteration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2544" y="4389120"/>
            <a:ext cx="347471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Gaps identified are re-prompted &amp; resolved
in hours — not scheduled into the next sprint.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02168" y="3794760"/>
            <a:ext cx="3749039" cy="2057400"/>
          </a:xfrm>
          <a:prstGeom prst="rect">
            <a:avLst/>
          </a:prstGeom>
          <a:solidFill>
            <a:srgbClr val="0D1426"/>
          </a:solidFill>
          <a:ln w="9525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02168" y="3794760"/>
            <a:ext cx="3749039" cy="54864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8" y="3931920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🛡  06  —  Quality by 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4389120"/>
            <a:ext cx="347471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Security, logging &amp; governance are Day 1
constraints — never retrofitted afterward.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4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A80"/>
                </a:solidFill>
                <a:latin typeface="Calibri"/>
              </a:rPr>
              <a:t>Human Orchestrates  |  AI Builds  |  Value Delivers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CC1B1B"/>
                </a:solidFill>
                <a:latin typeface="Calibri"/>
              </a:rPr>
              <a:t>OrchestrAI  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6A80"/>
                </a:solidFill>
                <a:latin typeface="Calibri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1B1B"/>
                </a:solidFill>
                <a:latin typeface="Calibri"/>
              </a:rPr>
              <a:t>OGE — THE ORCHESTRAI QUALITY &amp; GOVERNANCE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02336"/>
            <a:ext cx="731520" cy="38100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Built Into Every Stage of ODF. Not an Add-On. A Mandate.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698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ABB"/>
                </a:solidFill>
                <a:latin typeface="Calibri"/>
              </a:rPr>
              <a:t>Quality · Governance · Security · Privacy · Data Protection — Not a Feature. A Mandate in OrchestrAI.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3657600" cy="4572000"/>
          </a:xfrm>
          <a:prstGeom prst="rect">
            <a:avLst/>
          </a:prstGeom>
          <a:solidFill>
            <a:srgbClr val="0D1426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36576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66420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6366F1"/>
                </a:solidFill>
                <a:latin typeface="Calibri"/>
              </a:rPr>
              <a:t>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860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OBSERVABILITY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68833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6366F1"/>
                </a:solidFill>
                <a:latin typeface="Calibri"/>
              </a:rPr>
              <a:t>See. Understand. Act.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329184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4612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AABB"/>
                </a:solidFill>
                <a:latin typeface="Calibri"/>
              </a:rPr>
              <a:t>Continuous monitoring of AI-generated outputs,
drift detection, alerts &amp; anomaly reporting.
Human always knows exactly what AI is doing
and can intervene at any point.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1508760"/>
            <a:ext cx="3657600" cy="4572000"/>
          </a:xfrm>
          <a:prstGeom prst="rect">
            <a:avLst/>
          </a:prstGeom>
          <a:solidFill>
            <a:srgbClr val="0D1426"/>
          </a:solidFill>
          <a:ln w="12700">
            <a:solidFill>
              <a:srgbClr val="CC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508760"/>
            <a:ext cx="3657600" cy="73152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9392" y="166420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CC1B1B"/>
                </a:solidFill>
                <a:latin typeface="Calibri"/>
              </a:rPr>
              <a:t>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9392" y="22860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GUARDRAILS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268833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CC1B1B"/>
                </a:solidFill>
                <a:latin typeface="Calibri"/>
              </a:rPr>
              <a:t>Safe. Aligned. Controlled.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62272" y="3108960"/>
            <a:ext cx="3291840" cy="36576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2272" y="324612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AABB"/>
                </a:solidFill>
                <a:latin typeface="Calibri"/>
              </a:rPr>
              <a:t>Constraints, boundaries &amp; controls baked into
every AI prompt and every delivery stage.
AI cannot operate outside of defined
guardrails — ever.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38744" y="1508760"/>
            <a:ext cx="3657600" cy="4572000"/>
          </a:xfrm>
          <a:prstGeom prst="rect">
            <a:avLst/>
          </a:prstGeom>
          <a:solidFill>
            <a:srgbClr val="0D14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38744" y="1508760"/>
            <a:ext cx="3657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38744" y="166420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10B981"/>
                </a:solidFill>
                <a:latin typeface="Calibri"/>
              </a:rPr>
              <a:t>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8744" y="22860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8744" y="268833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10B981"/>
                </a:solidFill>
                <a:latin typeface="Calibri"/>
              </a:rPr>
              <a:t>Measure. Validate. Improve.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21624" y="3108960"/>
            <a:ext cx="32918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21624" y="324612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AABB"/>
                </a:solidFill>
                <a:latin typeface="Calibri"/>
              </a:rPr>
              <a:t>Outcome scoring, quality benchmarks &amp;
continuous improvement signals.
Every delivery cycle is measured
against the original business intent.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6199632"/>
            <a:ext cx="11521440" cy="457200"/>
          </a:xfrm>
          <a:prstGeom prst="rect">
            <a:avLst/>
          </a:prstGeom>
          <a:solidFill>
            <a:srgbClr val="0A0303"/>
          </a:solidFill>
          <a:ln w="9525">
            <a:solidFill>
              <a:srgbClr val="CC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25449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0AABB"/>
                </a:solidFill>
                <a:latin typeface="Calibri"/>
              </a:rPr>
              <a:t>OGE governs every stage of the ODF loop — ensuring AI delivery is trustworthy, auditable, and enterprise-grade.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4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A80"/>
                </a:solidFill>
                <a:latin typeface="Calibri"/>
              </a:rPr>
              <a:t>Human Orchestrates  |  AI Builds  |  Value Delivers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CC1B1B"/>
                </a:solidFill>
                <a:latin typeface="Calibri"/>
              </a:rPr>
              <a:t>OrchestrAI  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6A80"/>
                </a:solidFill>
                <a:latin typeface="Calibri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1B1B"/>
                </a:solidFill>
                <a:latin typeface="Calibri"/>
              </a:rPr>
              <a:t>OMG — ORCHESTRAI MODEL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02336"/>
            <a:ext cx="731520" cy="38100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10 Pillars of Enterprise AI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698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ABB"/>
                </a:solidFill>
                <a:latin typeface="Calibri"/>
              </a:rPr>
              <a:t>Trusted. Transparent. Governed.  |  RBI-Aligned  |  Risk-First. Human-Led. Enterprise-Ready.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81328"/>
            <a:ext cx="5577840" cy="749808"/>
          </a:xfrm>
          <a:prstGeom prst="rect">
            <a:avLst/>
          </a:prstGeom>
          <a:solidFill>
            <a:srgbClr val="0D1426"/>
          </a:solidFill>
          <a:ln w="6350">
            <a:solidFill>
              <a:srgbClr val="1E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81328"/>
            <a:ext cx="54864" cy="7498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361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🗂  01. AI Inventory &amp; Registry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Define and register all AI assets enterprise-wide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81328"/>
            <a:ext cx="5577840" cy="749808"/>
          </a:xfrm>
          <a:prstGeom prst="rect">
            <a:avLst/>
          </a:prstGeom>
          <a:solidFill>
            <a:srgbClr val="0D1426"/>
          </a:solidFill>
          <a:ln w="6350">
            <a:solidFill>
              <a:srgbClr val="1E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81328"/>
            <a:ext cx="54864" cy="749808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361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👥  02. Ownership &amp; Roles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745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RACI-based accountability — every AI model has a human owner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50008"/>
            <a:ext cx="5577840" cy="749808"/>
          </a:xfrm>
          <a:prstGeom prst="rect">
            <a:avLst/>
          </a:prstGeom>
          <a:solidFill>
            <a:srgbClr val="0D1426"/>
          </a:solidFill>
          <a:ln w="6350">
            <a:solidFill>
              <a:srgbClr val="1E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350008"/>
            <a:ext cx="54864" cy="7498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40487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⚠  03. Risk 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743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Classify by business impact and RBI risk tiers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350008"/>
            <a:ext cx="5577840" cy="749808"/>
          </a:xfrm>
          <a:prstGeom prst="rect">
            <a:avLst/>
          </a:prstGeom>
          <a:solidFill>
            <a:srgbClr val="0D1426"/>
          </a:solidFill>
          <a:ln w="6350">
            <a:solidFill>
              <a:srgbClr val="1E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350008"/>
            <a:ext cx="54864" cy="749808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40487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✅  04. Approval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743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Structured approvals before any AI model is deployed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218688"/>
            <a:ext cx="5577840" cy="749808"/>
          </a:xfrm>
          <a:prstGeom prst="rect">
            <a:avLst/>
          </a:prstGeom>
          <a:solidFill>
            <a:srgbClr val="0D1426"/>
          </a:solidFill>
          <a:ln w="6350">
            <a:solidFill>
              <a:srgbClr val="1E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218688"/>
            <a:ext cx="54864" cy="7498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2735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🔍  05. Validation &amp;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6118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Independent validation with documented evidence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218688"/>
            <a:ext cx="5577840" cy="749808"/>
          </a:xfrm>
          <a:prstGeom prst="rect">
            <a:avLst/>
          </a:prstGeom>
          <a:solidFill>
            <a:srgbClr val="0D1426"/>
          </a:solidFill>
          <a:ln w="6350">
            <a:solidFill>
              <a:srgbClr val="1E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218688"/>
            <a:ext cx="54864" cy="749808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2735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🛑  06. Human Override &amp; Kill Switch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6118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Control, pause, or stop any AI — at any 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087368"/>
            <a:ext cx="5577840" cy="749808"/>
          </a:xfrm>
          <a:prstGeom prst="rect">
            <a:avLst/>
          </a:prstGeom>
          <a:solidFill>
            <a:srgbClr val="0D1426"/>
          </a:solidFill>
          <a:ln w="6350">
            <a:solidFill>
              <a:srgbClr val="1E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087368"/>
            <a:ext cx="54864" cy="7498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14223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📊  07. Monitoring &amp; Observability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4805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Continuous monitoring, alerts, and drift detection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4087368"/>
            <a:ext cx="5577840" cy="749808"/>
          </a:xfrm>
          <a:prstGeom prst="rect">
            <a:avLst/>
          </a:prstGeom>
          <a:solidFill>
            <a:srgbClr val="0D1426"/>
          </a:solidFill>
          <a:ln w="6350">
            <a:solidFill>
              <a:srgbClr val="1E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4087368"/>
            <a:ext cx="54864" cy="749808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14223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📋  08. Audit &amp; Reporting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805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End-to-end regulatory audit trails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956048"/>
            <a:ext cx="5577840" cy="749808"/>
          </a:xfrm>
          <a:prstGeom prst="rect">
            <a:avLst/>
          </a:prstGeom>
          <a:solidFill>
            <a:srgbClr val="0D1426"/>
          </a:solidFill>
          <a:ln w="6350">
            <a:solidFill>
              <a:srgbClr val="1E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0040" y="4956048"/>
            <a:ext cx="54864" cy="7498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501091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🔄  09. Lifecycle Management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3492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Manage AI from creation through retirement/archive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4956048"/>
            <a:ext cx="5577840" cy="749808"/>
          </a:xfrm>
          <a:prstGeom prst="rect">
            <a:avLst/>
          </a:prstGeom>
          <a:solidFill>
            <a:srgbClr val="0D1426"/>
          </a:solidFill>
          <a:ln w="6350">
            <a:solidFill>
              <a:srgbClr val="1E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63640" y="4956048"/>
            <a:ext cx="54864" cy="749808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501091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⚖  10. Ethics &amp; Responsibility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53492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Fairness, transparency, and responsible AI at every level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4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A80"/>
                </a:solidFill>
                <a:latin typeface="Calibri"/>
              </a:rPr>
              <a:t>Human Orchestrates  |  AI Builds  |  Value Delivers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CC1B1B"/>
                </a:solidFill>
                <a:latin typeface="Calibri"/>
              </a:rPr>
              <a:t>OrchestrAI  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6A80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1B1B"/>
                </a:solidFill>
                <a:latin typeface="Calibri"/>
              </a:rPr>
              <a:t>ODF BUSINESS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02336"/>
            <a:ext cx="731520" cy="38100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Enterprises Actually 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698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ABB"/>
                </a:solidFill>
                <a:latin typeface="Calibri"/>
              </a:rPr>
              <a:t>Not slideware. Measurable delivery outcomes — governed end to 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81328"/>
            <a:ext cx="3749039" cy="2057400"/>
          </a:xfrm>
          <a:prstGeom prst="rect">
            <a:avLst/>
          </a:prstGeom>
          <a:solidFill>
            <a:srgbClr val="0D1426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81328"/>
            <a:ext cx="3749039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9105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6366F1"/>
                </a:solidFill>
                <a:latin typeface="Calibri"/>
              </a:rP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554480"/>
            <a:ext cx="27431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6366F1"/>
                </a:solidFill>
                <a:latin typeface="Calibri"/>
              </a:rPr>
              <a:t>10X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Faster Delivery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68880"/>
            <a:ext cx="3383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Outcomes shipped in a fraction
of traditional cycle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6824" y="1481328"/>
            <a:ext cx="3749039" cy="2057400"/>
          </a:xfrm>
          <a:prstGeom prst="rect">
            <a:avLst/>
          </a:prstGeom>
          <a:solidFill>
            <a:srgbClr val="0D1426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6824" y="1481328"/>
            <a:ext cx="3749039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159105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2D3EE"/>
                </a:solidFill>
                <a:latin typeface="Calibri"/>
              </a:rPr>
              <a:t>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554480"/>
            <a:ext cx="27431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22D3EE"/>
                </a:solidFill>
                <a:latin typeface="Calibri"/>
              </a:rPr>
              <a:t>1–2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2103120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Micro Sprints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704" y="2468880"/>
            <a:ext cx="3383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Short, focused delivery cycles
instead of multi-week sprints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93608" y="1481328"/>
            <a:ext cx="3749039" cy="2057400"/>
          </a:xfrm>
          <a:prstGeom prst="rect">
            <a:avLst/>
          </a:prstGeom>
          <a:solidFill>
            <a:srgbClr val="0D1426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93608" y="1481328"/>
            <a:ext cx="3749039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76488" y="159105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855F7"/>
                </a:solidFill>
                <a:latin typeface="Calibri"/>
              </a:rPr>
              <a:t>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0848" y="1554480"/>
            <a:ext cx="27431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A855F7"/>
                </a:solidFill>
                <a:latin typeface="Calibri"/>
              </a:rPr>
              <a:t>Same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6488" y="2103120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Faster Feedback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6488" y="2468880"/>
            <a:ext cx="3383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Feedback re-enters delivery
immediately — not next iteration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785616"/>
            <a:ext cx="3749039" cy="2057400"/>
          </a:xfrm>
          <a:prstGeom prst="rect">
            <a:avLst/>
          </a:prstGeom>
          <a:solidFill>
            <a:srgbClr val="0D1426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785616"/>
            <a:ext cx="3749039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89534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0B981"/>
                </a:solidFill>
                <a:latin typeface="Calibri"/>
              </a:rPr>
              <a:t>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858768"/>
            <a:ext cx="27431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10B981"/>
                </a:solidFill>
                <a:latin typeface="Calibri"/>
              </a:rPr>
              <a:t>Built 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407408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Enterprise Governance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773168"/>
            <a:ext cx="3383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Controlled, auditable &amp;
measurable delivery at every stage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06824" y="3785616"/>
            <a:ext cx="3749039" cy="2057400"/>
          </a:xfrm>
          <a:prstGeom prst="rect">
            <a:avLst/>
          </a:prstGeom>
          <a:solidFill>
            <a:srgbClr val="0D1426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06824" y="3785616"/>
            <a:ext cx="374903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9704" y="389534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59E0B"/>
                </a:solidFill>
                <a:latin typeface="Calibri"/>
              </a:rPr>
              <a:t>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4064" y="3858768"/>
            <a:ext cx="27431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59E0B"/>
                </a:solidFill>
                <a:latin typeface="Calibri"/>
              </a:rPr>
              <a:t>Always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9704" y="4407408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Human Ownership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9704" y="4773168"/>
            <a:ext cx="3383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People stay accountable for
decisions, quality &amp; outcomes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93608" y="3785616"/>
            <a:ext cx="3749039" cy="2057400"/>
          </a:xfrm>
          <a:prstGeom prst="rect">
            <a:avLst/>
          </a:prstGeom>
          <a:solidFill>
            <a:srgbClr val="0D1426"/>
          </a:solidFill>
          <a:ln w="9525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93608" y="3785616"/>
            <a:ext cx="3749039" cy="54864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76488" y="389534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B7185"/>
                </a:solidFill>
                <a:latin typeface="Calibri"/>
              </a:rPr>
              <a:t>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70848" y="3858768"/>
            <a:ext cx="27431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B7185"/>
                </a:solidFill>
                <a:latin typeface="Calibri"/>
              </a:rPr>
              <a:t>Every Cycle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76488" y="4407408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Continuous Improvement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76488" y="4773168"/>
            <a:ext cx="3383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Every cycle makes the next
delivery measurably better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4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A80"/>
                </a:solidFill>
                <a:latin typeface="Calibri"/>
              </a:rPr>
              <a:t>Human Orchestrates  |  AI Builds  |  Value Delivers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CC1B1B"/>
                </a:solidFill>
                <a:latin typeface="Calibri"/>
              </a:rPr>
              <a:t>OrchestrAI  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6A80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1B1B"/>
                </a:solidFill>
                <a:latin typeface="Calibri"/>
              </a:rPr>
              <a:t>PROVED IN PRACTICE (PIP) — REAL APPS. REAL SPEED. REAL ODF.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02336"/>
            <a:ext cx="731520" cy="38100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Not Just AI. Your Competitive Advantage.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698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ABB"/>
                </a:solidFill>
                <a:latin typeface="Calibri"/>
              </a:rPr>
              <a:t>Production-ready enterprise systems built entirely through ODF — live and explorable right now.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44752"/>
            <a:ext cx="2834640" cy="4892040"/>
          </a:xfrm>
          <a:prstGeom prst="rect">
            <a:avLst/>
          </a:prstGeom>
          <a:solidFill>
            <a:srgbClr val="0D1426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444752"/>
            <a:ext cx="283464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6366F1"/>
                </a:solidFill>
                <a:latin typeface="Calibri"/>
              </a:rPr>
              <a:t>🎓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1554480"/>
            <a:ext cx="1188720" cy="384048"/>
          </a:xfrm>
          <a:prstGeom prst="rect">
            <a:avLst/>
          </a:prstGeom>
          <a:solidFill>
            <a:srgbClr val="041404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64792" y="1581912"/>
            <a:ext cx="1133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  <a:latin typeface="Calibri"/>
              </a:rPr>
              <a:t>✅  10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203911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OrchestrAI Lead
Certification &amp; Career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2798064"/>
            <a:ext cx="26060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ABB"/>
                </a:solidFill>
                <a:latin typeface="Calibri"/>
              </a:rPr>
              <a:t>Full learning management platform · 7 training modules · Quiz engine · Capstone submission · AI review · Certification generation · Firebase backend · Gamification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736592"/>
            <a:ext cx="2651760" cy="658368"/>
          </a:xfrm>
          <a:prstGeom prst="rect">
            <a:avLst/>
          </a:prstGeom>
          <a:solidFill>
            <a:srgbClr val="0A0A14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4791456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🔗  vthinkorchestrai-academy.web.app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" y="5084064"/>
            <a:ext cx="2505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ABB"/>
                </a:solidFill>
                <a:latin typeface="Calibri"/>
              </a:rPr>
              <a:t>👤  Free access — no login required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27832" y="1444752"/>
            <a:ext cx="2834640" cy="4892040"/>
          </a:xfrm>
          <a:prstGeom prst="rect">
            <a:avLst/>
          </a:prstGeom>
          <a:solidFill>
            <a:srgbClr val="0D1426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27832" y="1444752"/>
            <a:ext cx="28346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64992" y="15544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2D3EE"/>
                </a:solidFill>
                <a:latin typeface="Calibri"/>
              </a:rPr>
              <a:t>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36592" y="1554480"/>
            <a:ext cx="1188720" cy="384048"/>
          </a:xfrm>
          <a:prstGeom prst="rect">
            <a:avLst/>
          </a:prstGeom>
          <a:solidFill>
            <a:srgbClr val="041404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1581912"/>
            <a:ext cx="1133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  <a:latin typeface="Calibri"/>
              </a:rPr>
              <a:t>✅  7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203911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Timesheet
Management Portal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798064"/>
            <a:ext cx="26060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ABB"/>
                </a:solidFill>
                <a:latin typeface="Calibri"/>
              </a:rPr>
              <a:t>27 APIs · Multi-role RBAC · Timesheet validation grids · Multi-project tracking · Approval workflows · Fully operational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19272" y="4736592"/>
            <a:ext cx="2651760" cy="658368"/>
          </a:xfrm>
          <a:prstGeom prst="rect">
            <a:avLst/>
          </a:prstGeom>
          <a:solidFill>
            <a:srgbClr val="0A0A14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92424" y="4791456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🔗  timesheet.vthinkdeveloper.com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92424" y="5084064"/>
            <a:ext cx="2505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ABB"/>
                </a:solidFill>
                <a:latin typeface="Calibri"/>
              </a:rPr>
              <a:t>👤  Guest01  /  Guest@123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27064" y="1444752"/>
            <a:ext cx="2834640" cy="4892040"/>
          </a:xfrm>
          <a:prstGeom prst="rect">
            <a:avLst/>
          </a:prstGeom>
          <a:solidFill>
            <a:srgbClr val="0D1426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27064" y="1444752"/>
            <a:ext cx="283464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5544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A855F7"/>
                </a:solidFill>
                <a:latin typeface="Calibri"/>
              </a:rPr>
              <a:t>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35824" y="1554480"/>
            <a:ext cx="1188720" cy="384048"/>
          </a:xfrm>
          <a:prstGeom prst="rect">
            <a:avLst/>
          </a:prstGeom>
          <a:solidFill>
            <a:srgbClr val="041404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81912"/>
            <a:ext cx="1133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  <a:latin typeface="Calibri"/>
              </a:rPr>
              <a:t>✅  5 Days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203911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Project Issue
Tracker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2798064"/>
            <a:ext cx="26060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ABB"/>
                </a:solidFill>
                <a:latin typeface="Calibri"/>
              </a:rPr>
              <a:t>Multi-tenant sprint tracking · Sub-items · Custom categories · Prompt audit history · Full workflow state engine · 16-transition matrix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18504" y="4736592"/>
            <a:ext cx="2651760" cy="658368"/>
          </a:xfrm>
          <a:prstGeom prst="rect">
            <a:avLst/>
          </a:prstGeom>
          <a:solidFill>
            <a:srgbClr val="0A0A14"/>
          </a:solidFill>
          <a:ln w="63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91656" y="4791456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855F7"/>
                </a:solidFill>
                <a:latin typeface="Calibri"/>
              </a:rPr>
              <a:t>🔗  projectissuetracker.vthinkdeveloper.com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91656" y="5084064"/>
            <a:ext cx="2505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ABB"/>
                </a:solidFill>
                <a:latin typeface="Calibri"/>
              </a:rPr>
              <a:t>👤  Guest01  /  Guest@123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26296" y="1444752"/>
            <a:ext cx="2834640" cy="4892040"/>
          </a:xfrm>
          <a:prstGeom prst="rect">
            <a:avLst/>
          </a:prstGeom>
          <a:solidFill>
            <a:srgbClr val="0D1426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26296" y="1444752"/>
            <a:ext cx="28346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63456" y="15544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0B981"/>
                </a:solidFill>
                <a:latin typeface="Calibri"/>
              </a:rPr>
              <a:t>🏢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735056" y="1554480"/>
            <a:ext cx="1188720" cy="384048"/>
          </a:xfrm>
          <a:prstGeom prst="rect">
            <a:avLst/>
          </a:prstGeom>
          <a:solidFill>
            <a:srgbClr val="041404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62488" y="1581912"/>
            <a:ext cx="1133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  <a:latin typeface="Calibri"/>
              </a:rPr>
              <a:t>✅  20 Days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36024" y="203911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HRIMS · HR Resource Planner
Finance Resource Planner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36024" y="2798064"/>
            <a:ext cx="26060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ABB"/>
                </a:solidFill>
                <a:latin typeface="Calibri"/>
              </a:rPr>
              <a:t>18 of 24 complex modules built · Leave management · Expense management · Payroll integration · HR Resource planning · Finance planning · UAT-ready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17736" y="4736592"/>
            <a:ext cx="2651760" cy="658368"/>
          </a:xfrm>
          <a:prstGeom prst="rect">
            <a:avLst/>
          </a:prstGeom>
          <a:solidFill>
            <a:srgbClr val="0A0A14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90888" y="4791456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🔗  Demo available on request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90888" y="5084064"/>
            <a:ext cx="2505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ABB"/>
                </a:solidFill>
                <a:latin typeface="Calibri"/>
              </a:rPr>
              <a:t>👤  Contact us to schedule a demo session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" y="6400800"/>
            <a:ext cx="11704320" cy="292608"/>
          </a:xfrm>
          <a:prstGeom prst="rect">
            <a:avLst/>
          </a:prstGeom>
          <a:solidFill>
            <a:srgbClr val="0A0303"/>
          </a:solidFill>
          <a:ln w="6350">
            <a:solidFill>
              <a:srgbClr val="CC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437376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C1B1B"/>
                </a:solidFill>
                <a:latin typeface="Calibri"/>
              </a:rPr>
              <a:t>💡  This very OrchestrAI Academy portal — a complex, multi-role enterprise LMS — was built in 10 days using ODF. Everything you see IS ODF output.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4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A80"/>
                </a:solidFill>
                <a:latin typeface="Calibri"/>
              </a:rPr>
              <a:t>Human Orchestrates  |  AI Builds  |  Value Delivers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CC1B1B"/>
                </a:solidFill>
                <a:latin typeface="Calibri"/>
              </a:rPr>
              <a:t>OrchestrAI  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6A80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1B1B"/>
                </a:solidFill>
                <a:latin typeface="Calibri"/>
              </a:rPr>
              <a:t>ORCHESTRAI IS FOR EVERY DELIVERY 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02336"/>
            <a:ext cx="731520" cy="38100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Not a Developer-Only Method. Every Role Has a Seat.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698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ABB"/>
                </a:solidFill>
                <a:latin typeface="Calibri"/>
              </a:rPr>
              <a:t>Every person in an enterprise delivery team has a clear job to do inside the OrchestrAI operating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81328"/>
            <a:ext cx="3749039" cy="1298448"/>
          </a:xfrm>
          <a:prstGeom prst="rect">
            <a:avLst/>
          </a:prstGeom>
          <a:solidFill>
            <a:srgbClr val="0D1426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81328"/>
            <a:ext cx="3749039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👩‍💻  Developers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34747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Build enterprise software faster using AI-assisted delivery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6824" y="1481328"/>
            <a:ext cx="3749039" cy="1298448"/>
          </a:xfrm>
          <a:prstGeom prst="rect">
            <a:avLst/>
          </a:prstGeom>
          <a:solidFill>
            <a:srgbClr val="0D1426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06824" y="1481328"/>
            <a:ext cx="3749039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3984" y="157276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🏗  Architects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011680"/>
            <a:ext cx="34747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Define architecture, standards, governance &amp; guardrails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93608" y="1481328"/>
            <a:ext cx="3749039" cy="1298448"/>
          </a:xfrm>
          <a:prstGeom prst="rect">
            <a:avLst/>
          </a:prstGeom>
          <a:solidFill>
            <a:srgbClr val="0D1426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93608" y="1481328"/>
            <a:ext cx="3749039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157276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🧑‍💼  Subject Matter Experts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011680"/>
            <a:ext cx="34747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Convert deep business knowledge into enterprise solutions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962656"/>
            <a:ext cx="3749039" cy="1298448"/>
          </a:xfrm>
          <a:prstGeom prst="rect">
            <a:avLst/>
          </a:prstGeom>
          <a:solidFill>
            <a:srgbClr val="0D1426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2962656"/>
            <a:ext cx="3749039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054096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🔬  QA Engineers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493008"/>
            <a:ext cx="34747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Validate AI-generated applications &amp; outcomes with evidence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06824" y="2962656"/>
            <a:ext cx="3749039" cy="1298448"/>
          </a:xfrm>
          <a:prstGeom prst="rect">
            <a:avLst/>
          </a:prstGeom>
          <a:solidFill>
            <a:srgbClr val="0D1426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06824" y="2962656"/>
            <a:ext cx="3749039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43984" y="3054096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🐛  Testers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984" y="3493008"/>
            <a:ext cx="34747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Prove quality against real business intent, not just tickets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93608" y="2962656"/>
            <a:ext cx="3749039" cy="1298448"/>
          </a:xfrm>
          <a:prstGeom prst="rect">
            <a:avLst/>
          </a:prstGeom>
          <a:solidFill>
            <a:srgbClr val="0D1426"/>
          </a:solidFill>
          <a:ln w="9525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93608" y="2962656"/>
            <a:ext cx="3749039" cy="4572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8" y="3054096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⚙  IT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3493008"/>
            <a:ext cx="34747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Accelerate deployment, automation &amp; operational readiness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443984"/>
            <a:ext cx="3749039" cy="1298448"/>
          </a:xfrm>
          <a:prstGeom prst="rect">
            <a:avLst/>
          </a:prstGeom>
          <a:solidFill>
            <a:srgbClr val="0D1426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443984"/>
            <a:ext cx="3749039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535424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📋  Product Owners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974336"/>
            <a:ext cx="34747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Focus on business outcomes &amp; delivery priorities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06824" y="4443984"/>
            <a:ext cx="3749039" cy="1298448"/>
          </a:xfrm>
          <a:prstGeom prst="rect">
            <a:avLst/>
          </a:prstGeom>
          <a:solidFill>
            <a:srgbClr val="0D1426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06824" y="4443984"/>
            <a:ext cx="3749039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43984" y="4535424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🧑‍🤝‍🧑  Engineering Managers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43984" y="4974336"/>
            <a:ext cx="34747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Improve speed, predictability &amp; delivery governance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93608" y="4443984"/>
            <a:ext cx="3749039" cy="1298448"/>
          </a:xfrm>
          <a:prstGeom prst="rect">
            <a:avLst/>
          </a:prstGeom>
          <a:solidFill>
            <a:srgbClr val="0D1426"/>
          </a:solidFill>
          <a:ln w="9525">
            <a:solidFill>
              <a:srgbClr val="CC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93608" y="4443984"/>
            <a:ext cx="3749039" cy="45720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30768" y="4535424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🏢  CTOs / CIOs / Tech Leaders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0768" y="4974336"/>
            <a:ext cx="34747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Drive ODF adoption safely, strategically &amp; at scale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4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A80"/>
                </a:solidFill>
                <a:latin typeface="Calibri"/>
              </a:rPr>
              <a:t>Human Orchestrates  |  AI Builds  |  Value Delivers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CC1B1B"/>
                </a:solidFill>
                <a:latin typeface="Calibri"/>
              </a:rPr>
              <a:t>OrchestrAI  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6A80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1B1B"/>
                </a:solidFill>
                <a:latin typeface="Calibri"/>
              </a:rPr>
              <a:t>ABOUT THE FOUNDER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02336"/>
            <a:ext cx="731520" cy="38100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Built by a Practitioner. Proved in Production.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3108960" cy="4892040"/>
          </a:xfrm>
          <a:prstGeom prst="rect">
            <a:avLst/>
          </a:prstGeom>
          <a:solidFill>
            <a:srgbClr val="0D1426"/>
          </a:solidFill>
          <a:ln w="12700">
            <a:solidFill>
              <a:srgbClr val="CC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3108960" cy="54864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783080"/>
            <a:ext cx="2286000" cy="1920240"/>
          </a:xfrm>
          <a:prstGeom prst="rect">
            <a:avLst/>
          </a:prstGeom>
          <a:solidFill>
            <a:srgbClr val="1A0606"/>
          </a:solidFill>
          <a:ln w="19050">
            <a:solidFill>
              <a:srgbClr val="CC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CC1B1B"/>
                </a:solidFill>
                <a:latin typeface="Calibri"/>
              </a:rPr>
              <a:t>SR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2926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Sithanandham
Radhakrishnan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C1B1B"/>
                </a:solidFill>
                <a:latin typeface="Calibri"/>
              </a:rPr>
              <a:t>Founder, OrchestrAI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920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0AABB"/>
                </a:solidFill>
                <a:latin typeface="Calibri"/>
              </a:rPr>
              <a:t>Chief AI Architect
vThink Global Technologies Pvt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1508760"/>
            <a:ext cx="8138160" cy="4892040"/>
          </a:xfrm>
          <a:prstGeom prst="rect">
            <a:avLst/>
          </a:prstGeom>
          <a:solidFill>
            <a:srgbClr val="0D1426"/>
          </a:solidFill>
          <a:ln w="6350">
            <a:solidFill>
              <a:srgbClr val="1E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86200" y="1691640"/>
            <a:ext cx="54864" cy="731520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1728216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24+ Years of Industry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093976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Banking · Insurance · Telecom · Capital Markets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6200" y="2587752"/>
            <a:ext cx="54864" cy="731520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2624328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Elite Client Portfolio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990088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Barclays · Verizon · ING Group · Merrill Lynch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86200" y="3483864"/>
            <a:ext cx="54864" cy="731520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0" y="3520440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OrchestrAI Framework Creator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886200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Conceived, designed &amp; built ODF from the ground 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4379976"/>
            <a:ext cx="54864" cy="731520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0" y="4416552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ODF in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782312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Built the OrchestrAI Academy LMS in 10 days using ODF — the platform you're seeing IS the proof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86200" y="5276088"/>
            <a:ext cx="54864" cy="731520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0" y="5312664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IP Ownership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678424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All OrchestrAI methodology &amp; products are IP of vThink Global Technologies Pvt Ltd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86200" y="6446520"/>
            <a:ext cx="1874519" cy="320040"/>
          </a:xfrm>
          <a:prstGeom prst="rect">
            <a:avLst/>
          </a:prstGeom>
          <a:solidFill>
            <a:srgbClr val="140404"/>
          </a:solidFill>
          <a:ln w="6350">
            <a:solidFill>
              <a:srgbClr val="CC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86200" y="647395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C1B1B"/>
                </a:solidFill>
                <a:latin typeface="Calibri"/>
              </a:rPr>
              <a:t>Strategic Advisor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16168" y="6446520"/>
            <a:ext cx="1874519" cy="320040"/>
          </a:xfrm>
          <a:prstGeom prst="rect">
            <a:avLst/>
          </a:prstGeom>
          <a:solidFill>
            <a:srgbClr val="140404"/>
          </a:solidFill>
          <a:ln w="6350">
            <a:solidFill>
              <a:srgbClr val="CC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16168" y="647395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C1B1B"/>
                </a:solidFill>
                <a:latin typeface="Calibri"/>
              </a:rPr>
              <a:t>OrchestrAI Architect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46136" y="6446520"/>
            <a:ext cx="1874519" cy="320040"/>
          </a:xfrm>
          <a:prstGeom prst="rect">
            <a:avLst/>
          </a:prstGeom>
          <a:solidFill>
            <a:srgbClr val="140404"/>
          </a:solidFill>
          <a:ln w="6350">
            <a:solidFill>
              <a:srgbClr val="CC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46136" y="647395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C1B1B"/>
                </a:solidFill>
                <a:latin typeface="Calibri"/>
              </a:rPr>
              <a:t>AI Delivery Pioneer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76104" y="6446520"/>
            <a:ext cx="1874519" cy="320040"/>
          </a:xfrm>
          <a:prstGeom prst="rect">
            <a:avLst/>
          </a:prstGeom>
          <a:solidFill>
            <a:srgbClr val="140404"/>
          </a:solidFill>
          <a:ln w="6350">
            <a:solidFill>
              <a:srgbClr val="CC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76104" y="647395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C1B1B"/>
                </a:solidFill>
                <a:latin typeface="Calibri"/>
              </a:rPr>
              <a:t>Enterprise Practitioner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1B1B"/>
                </a:solidFill>
                <a:latin typeface="Calibri"/>
              </a:rPr>
              <a:t>"Human Orchestrates.  AI Builds.  Value Delivers."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4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A80"/>
                </a:solidFill>
                <a:latin typeface="Calibri"/>
              </a:rPr>
              <a:t>Human Orchestrates  |  AI Builds  |  Value Delivers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CC1B1B"/>
                </a:solidFill>
                <a:latin typeface="Calibri"/>
              </a:rPr>
              <a:t>OrchestrAI  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6A80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645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C1B1B"/>
                </a:solidFill>
                <a:latin typeface="Calibri"/>
              </a:rPr>
              <a:t>A★  OrchestrAI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5303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AABB"/>
                </a:solidFill>
                <a:latin typeface="Calibri"/>
              </a:rPr>
              <a:t>AI-ORCHESTRATED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Experience ODF.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AABB"/>
                </a:solidFill>
                <a:latin typeface="Calibri"/>
              </a:rPr>
              <a:t>The Future of AI-Governed Enterprise Delivery — Available Now.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40280"/>
            <a:ext cx="3657600" cy="3822191"/>
          </a:xfrm>
          <a:prstGeom prst="rect">
            <a:avLst/>
          </a:prstGeom>
          <a:solidFill>
            <a:srgbClr val="0D1426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240280"/>
            <a:ext cx="3657600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35915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6366F1"/>
                </a:solidFill>
                <a:latin typeface="Calibri"/>
              </a:rPr>
              <a:t>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88950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EXPLORE LIVE NOW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37560"/>
            <a:ext cx="329184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56432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ABB"/>
                </a:solidFill>
                <a:latin typeface="Calibri"/>
              </a:rPr>
              <a:t>OrchestrAI Academy
vthinkorchestrai-academy.web.app
Free access — no login required
Timesheet Portal
timesheet.vthinkdeveloper.com
Guest01  /  Guest@123
Issue Tracker
projectissuetracker.vthinkdeveloper.com
Guest01  /  Guest@123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8" y="2240280"/>
            <a:ext cx="3657600" cy="3822191"/>
          </a:xfrm>
          <a:prstGeom prst="rect">
            <a:avLst/>
          </a:prstGeom>
          <a:solidFill>
            <a:srgbClr val="0D1426"/>
          </a:solidFill>
          <a:ln w="12700">
            <a:solidFill>
              <a:srgbClr val="CC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0248" y="2240280"/>
            <a:ext cx="3657600" cy="64008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0248" y="235915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CC1B1B"/>
                </a:solidFill>
                <a:latin typeface="Calibri"/>
              </a:rPr>
              <a:t>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0248" y="288950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REQUEST A LIVE DEMO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53128" y="3337560"/>
            <a:ext cx="3291840" cy="36576"/>
          </a:xfrm>
          <a:prstGeom prst="rect">
            <a:avLst/>
          </a:prstGeom>
          <a:solidFill>
            <a:srgbClr val="CC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3456432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ABB"/>
                </a:solidFill>
                <a:latin typeface="Calibri"/>
              </a:rPr>
              <a:t>Bring your use case.
We build a working ODF prototype
in 7 days — you experience
the framework firsthand.
HRIMS · HR &amp; Finance
Resource Planner
Available on request.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74736" y="2240280"/>
            <a:ext cx="3657600" cy="3822191"/>
          </a:xfrm>
          <a:prstGeom prst="rect">
            <a:avLst/>
          </a:prstGeom>
          <a:solidFill>
            <a:srgbClr val="0D14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2240280"/>
            <a:ext cx="365760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4736" y="235915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0B981"/>
                </a:solidFill>
                <a:latin typeface="Calibri"/>
              </a:rPr>
              <a:t>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4736" y="288950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SCHEDULE A STRATEGY CALL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57616" y="3337560"/>
            <a:ext cx="32918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7616" y="3456432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ABB"/>
                </a:solidFill>
                <a:latin typeface="Calibri"/>
              </a:rPr>
              <a:t>60-minute ODF Adoption
Strategy Session — tailored
to your organisation's
AI readiness level.
CTO / CIO / Technology Leader
alignment included.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172200"/>
            <a:ext cx="11430000" cy="502920"/>
          </a:xfrm>
          <a:prstGeom prst="rect">
            <a:avLst/>
          </a:prstGeom>
          <a:solidFill>
            <a:srgbClr val="100404"/>
          </a:solidFill>
          <a:ln w="9525">
            <a:solidFill>
              <a:srgbClr val="CC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2362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C1B1B"/>
                </a:solidFill>
                <a:latin typeface="Calibri"/>
              </a:rPr>
              <a:t>📧  vthinkorchestrai@gmail.com          🌐  vthinkorchestrai-academy.web.app          📍  vThink Global Technologies Pvt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06A80"/>
                </a:solidFill>
                <a:latin typeface="Calibri"/>
              </a:rPr>
              <a:t>"Human Orchestrates.  AI Builds.  Value Delivers."  — Sithanandham Radhakrishnan, Founder OrchestrAI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